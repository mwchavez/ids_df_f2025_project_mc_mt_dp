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Economica"/>
      <p:regular r:id="rId43"/>
      <p:bold r:id="rId44"/>
      <p:italic r:id="rId45"/>
      <p:boldItalic r:id="rId46"/>
    </p:embeddedFont>
    <p:embeddedFont>
      <p:font typeface="Roboto Mono"/>
      <p:regular r:id="rId47"/>
      <p:bold r:id="rId48"/>
      <p:italic r:id="rId49"/>
      <p:boldItalic r:id="rId50"/>
    </p:embeddedFont>
    <p:embeddedFont>
      <p:font typeface="Merriweather"/>
      <p:regular r:id="rId51"/>
      <p:bold r:id="rId52"/>
      <p:italic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Economica-bold.fntdata"/><Relationship Id="rId43" Type="http://schemas.openxmlformats.org/officeDocument/2006/relationships/font" Target="fonts/Economica-regular.fntdata"/><Relationship Id="rId46" Type="http://schemas.openxmlformats.org/officeDocument/2006/relationships/font" Target="fonts/Economica-boldItalic.fntdata"/><Relationship Id="rId45" Type="http://schemas.openxmlformats.org/officeDocument/2006/relationships/font" Target="fonts/Economica-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bold.fntdata"/><Relationship Id="rId47" Type="http://schemas.openxmlformats.org/officeDocument/2006/relationships/font" Target="fonts/RobotoMono-regular.fntdata"/><Relationship Id="rId49"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erriweather-regular.fntdata"/><Relationship Id="rId50" Type="http://schemas.openxmlformats.org/officeDocument/2006/relationships/font" Target="fonts/RobotoMono-boldItalic.fntdata"/><Relationship Id="rId53" Type="http://schemas.openxmlformats.org/officeDocument/2006/relationships/font" Target="fonts/Merriweather-italic.fntdata"/><Relationship Id="rId52" Type="http://schemas.openxmlformats.org/officeDocument/2006/relationships/font" Target="fonts/Merriweather-bold.fntdata"/><Relationship Id="rId11" Type="http://schemas.openxmlformats.org/officeDocument/2006/relationships/slide" Target="slides/slide6.xml"/><Relationship Id="rId55" Type="http://schemas.openxmlformats.org/officeDocument/2006/relationships/font" Target="fonts/OpenSans-regular.fntdata"/><Relationship Id="rId10" Type="http://schemas.openxmlformats.org/officeDocument/2006/relationships/slide" Target="slides/slide5.xml"/><Relationship Id="rId54" Type="http://schemas.openxmlformats.org/officeDocument/2006/relationships/font" Target="fonts/Merriweather-boldItalic.fntdata"/><Relationship Id="rId13" Type="http://schemas.openxmlformats.org/officeDocument/2006/relationships/slide" Target="slides/slide8.xml"/><Relationship Id="rId57" Type="http://schemas.openxmlformats.org/officeDocument/2006/relationships/font" Target="fonts/OpenSans-italic.fntdata"/><Relationship Id="rId12" Type="http://schemas.openxmlformats.org/officeDocument/2006/relationships/slide" Target="slides/slide7.xml"/><Relationship Id="rId56" Type="http://schemas.openxmlformats.org/officeDocument/2006/relationships/font" Target="fonts/OpenSans-bold.fntdata"/><Relationship Id="rId15" Type="http://schemas.openxmlformats.org/officeDocument/2006/relationships/slide" Target="slides/slide10.xml"/><Relationship Id="rId14" Type="http://schemas.openxmlformats.org/officeDocument/2006/relationships/slide" Target="slides/slide9.xml"/><Relationship Id="rId58"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c6f91993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c6f9199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c6f919934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c6f91993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c6f919934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c6f91993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Onion uses a Network-based IDS (NIDS) / Network Security Monitoring model, combining signature-based detection with Suricata and protocol/behavioral analysis with Zeek.</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6312ca1c0_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6312ca1c0_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c6f919934_0_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c6f91993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a6312ca1c0_5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a6312ca1c0_5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c6f919934_0_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c6f91993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c6f919934_0_2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c6f919934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“Our goal on the IDS side was to stand up Security Onion, generate both normal and attack traffic, and prove that we could:</a:t>
            </a:r>
            <a:br>
              <a:rPr lang="en"/>
            </a:br>
            <a:endParaRPr/>
          </a:p>
          <a:p>
            <a:pPr indent="-298450" lvl="0" marL="457200" rtl="0" algn="l">
              <a:lnSpc>
                <a:spcPct val="115000"/>
              </a:lnSpc>
              <a:spcBef>
                <a:spcPts val="1200"/>
              </a:spcBef>
              <a:spcAft>
                <a:spcPts val="0"/>
              </a:spcAft>
              <a:buClr>
                <a:schemeClr val="dk1"/>
              </a:buClr>
              <a:buSzPts val="1100"/>
              <a:buAutoNum type="arabicPeriod"/>
            </a:pPr>
            <a:r>
              <a:rPr lang="en"/>
              <a:t>see the traffic,</a:t>
            </a:r>
            <a:br>
              <a:rPr lang="en"/>
            </a:br>
            <a:endParaRPr/>
          </a:p>
          <a:p>
            <a:pPr indent="-298450" lvl="0" marL="457200" rtl="0" algn="l">
              <a:lnSpc>
                <a:spcPct val="115000"/>
              </a:lnSpc>
              <a:spcBef>
                <a:spcPts val="0"/>
              </a:spcBef>
              <a:spcAft>
                <a:spcPts val="0"/>
              </a:spcAft>
              <a:buClr>
                <a:schemeClr val="dk1"/>
              </a:buClr>
              <a:buSzPts val="1100"/>
              <a:buAutoNum type="arabicPeriod"/>
            </a:pPr>
            <a:r>
              <a:rPr lang="en"/>
              <a:t>detect attacks with Suricata, and</a:t>
            </a:r>
            <a:br>
              <a:rPr lang="en"/>
            </a:br>
            <a:endParaRPr/>
          </a:p>
          <a:p>
            <a:pPr indent="-298450" lvl="0" marL="457200" rtl="0" algn="l">
              <a:lnSpc>
                <a:spcPct val="115000"/>
              </a:lnSpc>
              <a:spcBef>
                <a:spcPts val="0"/>
              </a:spcBef>
              <a:spcAft>
                <a:spcPts val="0"/>
              </a:spcAft>
              <a:buClr>
                <a:schemeClr val="dk1"/>
              </a:buClr>
              <a:buSzPts val="1100"/>
              <a:buAutoNum type="arabicPeriod"/>
            </a:pPr>
            <a:r>
              <a:rPr lang="en"/>
              <a:t>investigate them using Zeek and the Hunt interface.”</a:t>
            </a:r>
            <a:br>
              <a:rPr lang="en"/>
            </a:br>
            <a:endParaRPr/>
          </a:p>
          <a:p>
            <a:pPr indent="0" lvl="0" marL="0" rtl="0" algn="l">
              <a:lnSpc>
                <a:spcPct val="115000"/>
              </a:lnSpc>
              <a:spcBef>
                <a:spcPts val="1200"/>
              </a:spcBef>
              <a:spcAft>
                <a:spcPts val="0"/>
              </a:spcAft>
              <a:buClr>
                <a:schemeClr val="dk1"/>
              </a:buClr>
              <a:buSzPts val="1100"/>
              <a:buFont typeface="Arial"/>
              <a:buNone/>
            </a:pPr>
            <a:r>
              <a:rPr lang="en"/>
              <a:t>“The Digital Forensics part is a separate presentation that picks up later with the same PCAPs and IOCs. Here I’m focusing on how we detected and hunted the activity in the first place.”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f7104ddcc_0_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f7104ddc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c6f919934_0_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c6f91993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f7104ddcc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f7104ddcc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f7104ddcc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f7104ddcc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f7104ddcc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f7104ddc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f7104ddc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f7104ddc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af83651e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3af83651e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6312ca1c0_4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6312ca1c0_4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f83651e61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f83651e61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“Once we knew Security Onion could see the network, we had to understand what </a:t>
            </a:r>
            <a:r>
              <a:rPr i="1" lang="en">
                <a:solidFill>
                  <a:schemeClr val="dk1"/>
                </a:solidFill>
              </a:rPr>
              <a:t>normal</a:t>
            </a:r>
            <a:r>
              <a:rPr lang="en">
                <a:solidFill>
                  <a:schemeClr val="dk1"/>
                </a:solidFill>
              </a:rPr>
              <a:t> looked like.”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captured a baseline of traffic with no deliberate attacks: just normal browsing and system activity.”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lang="en">
                <a:solidFill>
                  <a:srgbClr val="188038"/>
                </a:solidFill>
                <a:latin typeface="Roboto Mono"/>
                <a:ea typeface="Roboto Mono"/>
                <a:cs typeface="Roboto Mono"/>
                <a:sym typeface="Roboto Mono"/>
              </a:rPr>
              <a:t>File_Cap_Prop.png</a:t>
            </a:r>
            <a:r>
              <a:rPr lang="en">
                <a:solidFill>
                  <a:schemeClr val="dk1"/>
                </a:solidFill>
              </a:rPr>
              <a:t> screenshot shows our capture configuration. We documented the capture filter so we weren’t grabbing random noise from outside the lab—only the subnet and ports we cared about.”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a:t>
            </a:r>
            <a:r>
              <a:rPr lang="en">
                <a:solidFill>
                  <a:srgbClr val="188038"/>
                </a:solidFill>
                <a:latin typeface="Roboto Mono"/>
                <a:ea typeface="Roboto Mono"/>
                <a:cs typeface="Roboto Mono"/>
                <a:sym typeface="Roboto Mono"/>
              </a:rPr>
              <a:t>hunt-initial-logs.png</a:t>
            </a:r>
            <a:r>
              <a:rPr lang="en">
                <a:solidFill>
                  <a:schemeClr val="dk1"/>
                </a:solidFill>
              </a:rPr>
              <a:t> image is from the Hunt interface with Zeek logs. This is our ‘before attacks’ view: mostly routine TCP connections and some basic HTTP.</a:t>
            </a:r>
            <a:br>
              <a:rPr lang="en">
                <a:solidFill>
                  <a:schemeClr val="dk1"/>
                </a:solidFill>
              </a:rPr>
            </a:br>
            <a:r>
              <a:rPr lang="en">
                <a:solidFill>
                  <a:schemeClr val="dk1"/>
                </a:solidFill>
              </a:rPr>
              <a:t> That gave us a reference point so later, when Suricata started alerting, we could compare it against this baseline and see what really stood out.”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f83651e61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f83651e61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f7104ddc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f7104ddc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f83651e6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f83651e6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Talking points:</a:t>
            </a:r>
            <a:endParaRPr/>
          </a:p>
          <a:p>
            <a:pPr indent="-298450" lvl="0" marL="457200" rtl="0" algn="l">
              <a:lnSpc>
                <a:spcPct val="115000"/>
              </a:lnSpc>
              <a:spcBef>
                <a:spcPts val="1200"/>
              </a:spcBef>
              <a:spcAft>
                <a:spcPts val="0"/>
              </a:spcAft>
              <a:buClr>
                <a:schemeClr val="dk1"/>
              </a:buClr>
              <a:buSzPts val="1100"/>
              <a:buChar char="●"/>
            </a:pPr>
            <a:r>
              <a:rPr lang="en"/>
              <a:t>What you looked for in baseline: volumes, common protocols, normal port usage.</a:t>
            </a:r>
            <a:endParaRPr/>
          </a:p>
          <a:p>
            <a:pPr indent="0" lvl="0" marL="0" rtl="0" algn="l">
              <a:lnSpc>
                <a:spcPct val="115000"/>
              </a:lnSpc>
              <a:spcBef>
                <a:spcPts val="1200"/>
              </a:spcBef>
              <a:spcAft>
                <a:spcPts val="0"/>
              </a:spcAft>
              <a:buNone/>
            </a:pPr>
            <a:br>
              <a:rPr lang="en"/>
            </a:br>
            <a:endParaRPr/>
          </a:p>
          <a:p>
            <a:pPr indent="0" lvl="0" marL="0" rtl="0" algn="l">
              <a:spcBef>
                <a:spcPts val="120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af83651e6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af83651e6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“Milestone 2 was where the IDS really became more than a packet sniffer.”</a:t>
            </a:r>
            <a:br>
              <a:rPr lang="en">
                <a:solidFill>
                  <a:schemeClr val="dk1"/>
                </a:solidFill>
              </a:rPr>
            </a:b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rPr>
              <a:t>“On the back end, Suricata is doing signature-based inspection, and Zeek is writing rich metadata logs. Our job was to write rules that would actually fire when we ran the attacks and then confirm in Zeek that the pattern matched what the rule described.”</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did run into a ‘rule mismatch’ error at one point when enabling our rules, which forced us to clean up the rule file and re-load it. That’s another realistic step: rules don’t help if the engine refuses to load them.”</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6312ca1c0_4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a6312ca1c0_4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f83651e61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af83651e61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built a small custom </a:t>
            </a:r>
            <a:r>
              <a:rPr b="1" lang="en">
                <a:solidFill>
                  <a:schemeClr val="dk1"/>
                </a:solidFill>
              </a:rPr>
              <a:t>Suricata rule pack</a:t>
            </a:r>
            <a:r>
              <a:rPr lang="en">
                <a:solidFill>
                  <a:schemeClr val="dk1"/>
                </a:solidFill>
              </a:rPr>
              <a:t> to detect three specific behaviors we were going to generate:</a:t>
            </a:r>
            <a:br>
              <a:rPr lang="en">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TCP port scanning</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Suspicious HTTP activity</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SSH brute-force attempts</a:t>
            </a:r>
            <a:r>
              <a:rPr lang="en">
                <a:solidFill>
                  <a:schemeClr val="dk1"/>
                </a:solidFill>
              </a:rPr>
              <a:t>”</a:t>
            </a:r>
            <a:br>
              <a:rPr lang="en">
                <a:solidFill>
                  <a:schemeClr val="dk1"/>
                </a:solidFill>
              </a:rPr>
            </a:b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f83651e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af83651e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“The first scenario was a </a:t>
            </a:r>
            <a:r>
              <a:rPr b="1" lang="en">
                <a:solidFill>
                  <a:schemeClr val="dk1"/>
                </a:solidFill>
              </a:rPr>
              <a:t>port scan</a:t>
            </a:r>
            <a:r>
              <a:rPr lang="en">
                <a:solidFill>
                  <a:schemeClr val="dk1"/>
                </a:solidFill>
              </a:rPr>
              <a:t> from the attacker host against the Security Onion IP.”</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used a scanning tool to hit multiple TCP ports in a short time window. The idea behind the Suricata rule was:</a:t>
            </a:r>
            <a:br>
              <a:rPr lang="en">
                <a:solidFill>
                  <a:schemeClr val="dk1"/>
                </a:solidFill>
              </a:rPr>
            </a:br>
            <a:r>
              <a:rPr lang="en">
                <a:solidFill>
                  <a:schemeClr val="dk1"/>
                </a:solidFill>
              </a:rPr>
              <a:t> </a:t>
            </a:r>
            <a:r>
              <a:rPr i="1" lang="en">
                <a:solidFill>
                  <a:schemeClr val="dk1"/>
                </a:solidFill>
              </a:rPr>
              <a:t>‘If one source IP hits a lot of different ports on the same target quickly, raise an alert.’</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r>
            <a:r>
              <a:rPr lang="en">
                <a:solidFill>
                  <a:srgbClr val="188038"/>
                </a:solidFill>
                <a:latin typeface="Roboto Mono"/>
                <a:ea typeface="Roboto Mono"/>
                <a:cs typeface="Roboto Mono"/>
                <a:sym typeface="Roboto Mono"/>
              </a:rPr>
              <a:t>M2_port_scan.png</a:t>
            </a:r>
            <a:r>
              <a:rPr lang="en">
                <a:solidFill>
                  <a:schemeClr val="dk1"/>
                </a:solidFill>
              </a:rPr>
              <a:t> shows the alert in Security Onion that fired on this behavior. You can see the rule message we wrote and the source and destination information.”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“On the analysis side, we pivoted into Zeek’s </a:t>
            </a:r>
            <a:r>
              <a:rPr lang="en">
                <a:solidFill>
                  <a:srgbClr val="188038"/>
                </a:solidFill>
                <a:latin typeface="Roboto Mono"/>
                <a:ea typeface="Roboto Mono"/>
                <a:cs typeface="Roboto Mono"/>
                <a:sym typeface="Roboto Mono"/>
              </a:rPr>
              <a:t>conn.log</a:t>
            </a:r>
            <a:r>
              <a:rPr lang="en">
                <a:solidFill>
                  <a:schemeClr val="dk1"/>
                </a:solidFill>
              </a:rPr>
              <a:t> and confirmed the pattern: a burst of short connections from the same attacker IP to many ports, which is exactly what you’d expect from a basic scan.”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“So by this point, we’ve proven: we can simulate a common recon technique and our IDS stack doesn’t just see it—it labels it in a way that an analyst can respond to.”</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af83651e61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af83651e61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“Next we moved up the stack to </a:t>
            </a:r>
            <a:r>
              <a:rPr b="1" lang="en">
                <a:solidFill>
                  <a:schemeClr val="dk1"/>
                </a:solidFill>
              </a:rPr>
              <a:t>HTTP attacks</a:t>
            </a:r>
            <a:r>
              <a:rPr lang="en">
                <a:solidFill>
                  <a:schemeClr val="dk1"/>
                </a:solidFill>
              </a:rPr>
              <a:t>.”</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“We generated suspicious HTTP traffic—requests that a normal user would not send—against a test web service. Examples included unusual URLs and repeated requests that looked more like probing than normal browsing.”</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t>
            </a:r>
            <a:r>
              <a:rPr lang="en">
                <a:solidFill>
                  <a:srgbClr val="188038"/>
                </a:solidFill>
                <a:latin typeface="Roboto Mono"/>
                <a:ea typeface="Roboto Mono"/>
                <a:cs typeface="Roboto Mono"/>
                <a:sym typeface="Roboto Mono"/>
              </a:rPr>
              <a:t>HTTP_Attack.png</a:t>
            </a:r>
            <a:r>
              <a:rPr lang="en">
                <a:solidFill>
                  <a:schemeClr val="dk1"/>
                </a:solidFill>
              </a:rPr>
              <a:t> shows Suricata raising an alert on that traffic. Again, we wrote the rule message ourselves so the alert is meaningful when it shows up in the console.”</a:t>
            </a:r>
            <a:br>
              <a:rPr lang="en">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validate and understand the context, we:</a:t>
            </a:r>
            <a:br>
              <a:rPr lang="en">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Looked at Zeek’s </a:t>
            </a:r>
            <a:r>
              <a:rPr lang="en">
                <a:solidFill>
                  <a:srgbClr val="188038"/>
                </a:solidFill>
                <a:latin typeface="Roboto Mono"/>
                <a:ea typeface="Roboto Mono"/>
                <a:cs typeface="Roboto Mono"/>
                <a:sym typeface="Roboto Mono"/>
              </a:rPr>
              <a:t>http.log</a:t>
            </a:r>
            <a:r>
              <a:rPr lang="en">
                <a:solidFill>
                  <a:schemeClr val="dk1"/>
                </a:solidFill>
              </a:rPr>
              <a:t> to see hostnames, paths, and status codes.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demonstrates the workflow: IDS alert → Zeek logs for summary. That pattern is what real analysts do when they’re confirming whether an alert is noise or an actual attack.”</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af83651e61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af83651e61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“The last attack pattern in M2 was an </a:t>
            </a:r>
            <a:r>
              <a:rPr b="1" lang="en">
                <a:solidFill>
                  <a:schemeClr val="dk1"/>
                </a:solidFill>
              </a:rPr>
              <a:t>SSH brute-force</a:t>
            </a:r>
            <a:r>
              <a:rPr lang="en">
                <a:solidFill>
                  <a:schemeClr val="dk1"/>
                </a:solidFill>
              </a:rPr>
              <a:t> scenario.”</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scripted repeated SSH attempts from the attacker host against port 22. In a real network you might see this from internet bots scraping SSH on every IP they find.”</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Suricata rule was based on the idea:</a:t>
            </a:r>
            <a:br>
              <a:rPr lang="en">
                <a:solidFill>
                  <a:schemeClr val="dk1"/>
                </a:solidFill>
              </a:rPr>
            </a:br>
            <a:r>
              <a:rPr lang="en">
                <a:solidFill>
                  <a:schemeClr val="dk1"/>
                </a:solidFill>
              </a:rPr>
              <a:t> </a:t>
            </a:r>
            <a:r>
              <a:rPr i="1" lang="en">
                <a:solidFill>
                  <a:schemeClr val="dk1"/>
                </a:solidFill>
              </a:rPr>
              <a:t>‘If there are many SSH connection attempts from the same source to the same destination within a short period, raise an alert.’</a:t>
            </a:r>
            <a:r>
              <a:rPr lang="en">
                <a:solidFill>
                  <a:schemeClr val="dk1"/>
                </a:solidFill>
              </a:rPr>
              <a: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r>
            <a:r>
              <a:rPr lang="en">
                <a:solidFill>
                  <a:srgbClr val="188038"/>
                </a:solidFill>
                <a:latin typeface="Roboto Mono"/>
                <a:ea typeface="Roboto Mono"/>
                <a:cs typeface="Roboto Mono"/>
                <a:sym typeface="Roboto Mono"/>
              </a:rPr>
              <a:t>ssh_brutescan.png</a:t>
            </a:r>
            <a:r>
              <a:rPr lang="en">
                <a:solidFill>
                  <a:schemeClr val="dk1"/>
                </a:solidFill>
              </a:rPr>
              <a:t> shows the alert firing in Security Onion.”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cross-checked that with Zeek logs to confirm that:</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The same attacker IP tried multiple connections.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Most of them didn’t complete successfully, which aligns with brute-force behavior rather than a single login.”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also talked about tuning options here: for example, you might raise the threshold so admins don’t get paged for just two failed logins, but they still see a true brute-force burst.”</a:t>
            </a: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f83651e61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af83651e61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af83651e61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af83651e61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“Milestone 3 was about </a:t>
            </a:r>
            <a:r>
              <a:rPr b="1" lang="en">
                <a:solidFill>
                  <a:schemeClr val="dk1"/>
                </a:solidFill>
              </a:rPr>
              <a:t>process</a:t>
            </a:r>
            <a:r>
              <a:rPr lang="en">
                <a:solidFill>
                  <a:schemeClr val="dk1"/>
                </a:solidFill>
              </a:rPr>
              <a:t>, not just individual alerts.”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created a </a:t>
            </a:r>
            <a:r>
              <a:rPr b="1" lang="en">
                <a:solidFill>
                  <a:schemeClr val="dk1"/>
                </a:solidFill>
              </a:rPr>
              <a:t>hunt runbook</a:t>
            </a:r>
            <a:r>
              <a:rPr lang="en">
                <a:solidFill>
                  <a:schemeClr val="dk1"/>
                </a:solidFill>
              </a:rPr>
              <a:t>—basically a step-by-step playbook—for how to go from a suspicious signal to a documented decision. Our sections were:</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Triage</a:t>
            </a:r>
            <a:r>
              <a:rPr lang="en">
                <a:solidFill>
                  <a:schemeClr val="dk1"/>
                </a:solidFill>
              </a:rPr>
              <a:t> – Start from an alert or a hypothesis in Security Onion’s Alerts or Hunt views. Look at rule message, IPs, and ports.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Pivot in Zeek</a:t>
            </a:r>
            <a:r>
              <a:rPr lang="en">
                <a:solidFill>
                  <a:schemeClr val="dk1"/>
                </a:solidFill>
              </a:rPr>
              <a:t> – Depending on the alert, jump into </a:t>
            </a:r>
            <a:r>
              <a:rPr lang="en">
                <a:solidFill>
                  <a:srgbClr val="188038"/>
                </a:solidFill>
                <a:latin typeface="Roboto Mono"/>
                <a:ea typeface="Roboto Mono"/>
                <a:cs typeface="Roboto Mono"/>
                <a:sym typeface="Roboto Mono"/>
              </a:rPr>
              <a:t>dns.log</a:t>
            </a:r>
            <a:r>
              <a:rPr lang="en">
                <a:solidFill>
                  <a:schemeClr val="dk1"/>
                </a:solidFill>
              </a:rPr>
              <a:t>, </a:t>
            </a:r>
            <a:r>
              <a:rPr lang="en">
                <a:solidFill>
                  <a:srgbClr val="188038"/>
                </a:solidFill>
                <a:latin typeface="Roboto Mono"/>
                <a:ea typeface="Roboto Mono"/>
                <a:cs typeface="Roboto Mono"/>
                <a:sym typeface="Roboto Mono"/>
              </a:rPr>
              <a:t>conn.log</a:t>
            </a:r>
            <a:r>
              <a:rPr lang="en">
                <a:solidFill>
                  <a:schemeClr val="dk1"/>
                </a:solidFill>
              </a:rPr>
              <a:t>, </a:t>
            </a:r>
            <a:r>
              <a:rPr lang="en">
                <a:solidFill>
                  <a:srgbClr val="188038"/>
                </a:solidFill>
                <a:latin typeface="Roboto Mono"/>
                <a:ea typeface="Roboto Mono"/>
                <a:cs typeface="Roboto Mono"/>
                <a:sym typeface="Roboto Mono"/>
              </a:rPr>
              <a:t>http.log</a:t>
            </a:r>
            <a:r>
              <a:rPr lang="en">
                <a:solidFill>
                  <a:schemeClr val="dk1"/>
                </a:solidFill>
              </a:rPr>
              <a:t>, or </a:t>
            </a:r>
            <a:r>
              <a:rPr lang="en">
                <a:solidFill>
                  <a:srgbClr val="188038"/>
                </a:solidFill>
                <a:latin typeface="Roboto Mono"/>
                <a:ea typeface="Roboto Mono"/>
                <a:cs typeface="Roboto Mono"/>
                <a:sym typeface="Roboto Mono"/>
              </a:rPr>
              <a:t>ssh</a:t>
            </a:r>
            <a:r>
              <a:rPr lang="en">
                <a:solidFill>
                  <a:schemeClr val="dk1"/>
                </a:solidFill>
              </a:rPr>
              <a:t>-related logs to see how broad the activity is.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Enrichment</a:t>
            </a:r>
            <a:r>
              <a:rPr lang="en">
                <a:solidFill>
                  <a:schemeClr val="dk1"/>
                </a:solidFill>
              </a:rPr>
              <a:t> – Look up IP reputation or hostnames when needed, and correlate with what we know from the lab (for example, which IPs are Kali vs Security Onion).</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Decision</a:t>
            </a:r>
            <a:r>
              <a:rPr lang="en">
                <a:solidFill>
                  <a:schemeClr val="dk1"/>
                </a:solidFill>
              </a:rPr>
              <a:t> – Decide: benign, suspicious, or confirmed malicious.</a:t>
            </a:r>
            <a:br>
              <a:rPr lang="en">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AutoNum type="arabicPeriod"/>
            </a:pPr>
            <a:r>
              <a:rPr b="1" lang="en">
                <a:solidFill>
                  <a:schemeClr val="dk1"/>
                </a:solidFill>
              </a:rPr>
              <a:t>Documentation</a:t>
            </a:r>
            <a:r>
              <a:rPr lang="en">
                <a:solidFill>
                  <a:schemeClr val="dk1"/>
                </a:solidFill>
              </a:rPr>
              <a:t> – Record what we did, what we found, and any IOCs we want to keep.”</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“We tested this runbook on our own PCAPs so that, if someone else sits down at the console, they can follow the same flow and reach similar conclusions.”</a:t>
            </a:r>
            <a:br>
              <a:rPr lang="en">
                <a:solidFill>
                  <a:schemeClr val="dk1"/>
                </a:solidFill>
              </a:rPr>
            </a:b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af7104ddc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af7104ddc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af83651e6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af83651e6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other part of M3 was </a:t>
            </a:r>
            <a:r>
              <a:rPr b="1" lang="en">
                <a:solidFill>
                  <a:schemeClr val="dk1"/>
                </a:solidFill>
              </a:rPr>
              <a:t>tuning</a:t>
            </a:r>
            <a:r>
              <a:rPr lang="en">
                <a:solidFill>
                  <a:schemeClr val="dk1"/>
                </a:solidFill>
              </a:rPr>
              <a:t> and </a:t>
            </a:r>
            <a:r>
              <a:rPr b="1" lang="en">
                <a:solidFill>
                  <a:schemeClr val="dk1"/>
                </a:solidFill>
              </a:rPr>
              <a:t>metrics</a:t>
            </a:r>
            <a:r>
              <a:rPr lang="en">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identified our top noisy rules and applied two main tuning techniques: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Suppressions</a:t>
            </a:r>
            <a:r>
              <a:rPr lang="en">
                <a:solidFill>
                  <a:schemeClr val="dk1"/>
                </a:solidFill>
              </a:rPr>
              <a:t> – telling Suricata, ‘don’t alert if the source is this known lab scanner IP,’ because we use that host for testing all the time.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Thresholds</a:t>
            </a:r>
            <a:r>
              <a:rPr lang="en">
                <a:solidFill>
                  <a:schemeClr val="dk1"/>
                </a:solidFill>
              </a:rPr>
              <a:t> – requiring a certain number of hits before raising an alert, so we only get notified for repeated behavior, not one-off packets.”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af83651e6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af83651e6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“Milestone 4 combined everything: we imported a </a:t>
            </a:r>
            <a:r>
              <a:rPr b="1" lang="en">
                <a:solidFill>
                  <a:schemeClr val="dk1"/>
                </a:solidFill>
              </a:rPr>
              <a:t>real malicious PCAP</a:t>
            </a:r>
            <a:r>
              <a:rPr lang="en">
                <a:solidFill>
                  <a:schemeClr val="dk1"/>
                </a:solidFill>
              </a:rPr>
              <a:t> and treated it like an incident.”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f83651e61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f83651e61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28600" lvl="0" marL="457200" rtl="0" algn="l">
              <a:lnSpc>
                <a:spcPct val="115000"/>
              </a:lnSpc>
              <a:spcBef>
                <a:spcPts val="1200"/>
              </a:spcBef>
              <a:spcAft>
                <a:spcPts val="0"/>
              </a:spcAft>
              <a:buNone/>
            </a:pPr>
            <a:r>
              <a:rPr lang="en">
                <a:solidFill>
                  <a:schemeClr val="dk1"/>
                </a:solidFill>
              </a:rPr>
              <a:t>“We imported that PCAP into Security Onion and let Suricata and Zeek process it just like live traffic.”</a:t>
            </a:r>
            <a:br>
              <a:rPr lang="en">
                <a:solidFill>
                  <a:schemeClr val="dk1"/>
                </a:solidFill>
              </a:rPr>
            </a:br>
            <a:endParaRPr>
              <a:solidFill>
                <a:schemeClr val="dk1"/>
              </a:solidFill>
            </a:endParaRPr>
          </a:p>
          <a:p>
            <a:pPr indent="-228600" lvl="0" marL="457200" rtl="0" algn="l">
              <a:lnSpc>
                <a:spcPct val="115000"/>
              </a:lnSpc>
              <a:spcBef>
                <a:spcPts val="1200"/>
              </a:spcBef>
              <a:spcAft>
                <a:spcPts val="0"/>
              </a:spcAft>
              <a:buNone/>
            </a:pPr>
            <a:r>
              <a:rPr lang="en">
                <a:solidFill>
                  <a:schemeClr val="dk1"/>
                </a:solidFill>
              </a:rPr>
              <a:t>“</a:t>
            </a:r>
            <a:r>
              <a:rPr lang="en">
                <a:solidFill>
                  <a:srgbClr val="188038"/>
                </a:solidFill>
                <a:latin typeface="Roboto Mono"/>
                <a:ea typeface="Roboto Mono"/>
                <a:cs typeface="Roboto Mono"/>
                <a:sym typeface="Roboto Mono"/>
              </a:rPr>
              <a:t>Alerts from Malicious PCAP.png</a:t>
            </a:r>
            <a:r>
              <a:rPr lang="en">
                <a:solidFill>
                  <a:schemeClr val="dk1"/>
                </a:solidFill>
              </a:rPr>
              <a:t> shows some of the alerts that fired:</a:t>
            </a:r>
            <a:br>
              <a:rPr lang="en">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HTTP activity tied to the malicious campaign.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Indicators that looked like command-and-control or data exfiltration patterns.”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lang="en">
                <a:solidFill>
                  <a:schemeClr val="dk1"/>
                </a:solidFill>
              </a:rPr>
              <a:t>“From there we:</a:t>
            </a:r>
            <a:br>
              <a:rPr lang="en">
                <a:solidFill>
                  <a:schemeClr val="dk1"/>
                </a:solidFill>
              </a:rPr>
            </a:b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Pivotted into Zeek logs to identify all connections involving the victim.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Used Wireshark filters to look at the most suspicious streams.”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Note that these IOCs were then handed off to the DF side as part of the overall case.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f83651e6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af83651e6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 The IDS side proves we can configure and operate a practical detection stack, not just click through dashboards, and it sets the stage for the forensic investigation that follows.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af83651e6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af83651e6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af7104ddcc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af7104ddcc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Onion uses a Network-based IDS (NIDS) / Network Security Monitoring model, combining signature-based detection with Suricata and protocol/behavioral analysis with Zeek.</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af7104ddcc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3af7104ddcc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a6312ca1c0_5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a6312ca1c0_5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hyperlink" Target="https://www.malware-traffic-analysis.net/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hyperlink" Target="https://github.com/MBCProject/mbc-markdown/blob/main/xample-malware/ursnif.md" TargetMode="Externa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2.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hyperlink" Target="https://github.com/mwchavez/IDS_DF_F2025_Project_MC_MT_DP"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hyperlink" Target="https://www.malware-traffic-analysis.net/2021/05/14/index.html" TargetMode="External"/><Relationship Id="rId4" Type="http://schemas.openxmlformats.org/officeDocument/2006/relationships/hyperlink" Target="https://github.com/MBCProject/mbc-markdown/blob/main/xample-malware/ursnif.md" TargetMode="External"/><Relationship Id="rId5" Type="http://schemas.openxmlformats.org/officeDocument/2006/relationships/hyperlink" Target="https://www.acronis.com/en/tru/posts/ursnif-the-banking-trojan/" TargetMode="External"/><Relationship Id="rId6" Type="http://schemas.openxmlformats.org/officeDocument/2006/relationships/hyperlink" Target="https://attack.mitre.org/software/S0386/"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1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028699"/>
            <a:ext cx="3054600" cy="1952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latin typeface="Times New Roman"/>
                <a:ea typeface="Times New Roman"/>
                <a:cs typeface="Times New Roman"/>
                <a:sym typeface="Times New Roman"/>
              </a:rPr>
              <a:t>CIS:3370 </a:t>
            </a:r>
            <a:r>
              <a:rPr lang="en">
                <a:latin typeface="Times New Roman"/>
                <a:ea typeface="Times New Roman"/>
                <a:cs typeface="Times New Roman"/>
                <a:sym typeface="Times New Roman"/>
              </a:rPr>
              <a:t>Intrusion to Investigation</a:t>
            </a:r>
            <a:endParaRPr>
              <a:latin typeface="Times New Roman"/>
              <a:ea typeface="Times New Roman"/>
              <a:cs typeface="Times New Roman"/>
              <a:sym typeface="Times New Roman"/>
            </a:endParaRPr>
          </a:p>
        </p:txBody>
      </p:sp>
      <p:sp>
        <p:nvSpPr>
          <p:cNvPr id="63" name="Google Shape;63;p13"/>
          <p:cNvSpPr txBox="1"/>
          <p:nvPr>
            <p:ph idx="1" type="subTitle"/>
          </p:nvPr>
        </p:nvSpPr>
        <p:spPr>
          <a:xfrm>
            <a:off x="3044700" y="3406355"/>
            <a:ext cx="3054600" cy="701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Chavez | Turner</a:t>
            </a:r>
            <a:endParaRPr/>
          </a:p>
        </p:txBody>
      </p:sp>
      <p:sp>
        <p:nvSpPr>
          <p:cNvPr id="64" name="Google Shape;64;p13"/>
          <p:cNvSpPr txBox="1"/>
          <p:nvPr>
            <p:ph type="ctrTitle"/>
          </p:nvPr>
        </p:nvSpPr>
        <p:spPr>
          <a:xfrm>
            <a:off x="3678450" y="2525549"/>
            <a:ext cx="1787100" cy="8808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3000">
                <a:latin typeface="Times New Roman"/>
                <a:ea typeface="Times New Roman"/>
                <a:cs typeface="Times New Roman"/>
                <a:sym typeface="Times New Roman"/>
              </a:rPr>
              <a:t>Part I</a:t>
            </a:r>
            <a:endParaRPr sz="30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User Story</a:t>
            </a:r>
            <a:endParaRPr>
              <a:latin typeface="Times New Roman"/>
              <a:ea typeface="Times New Roman"/>
              <a:cs typeface="Times New Roman"/>
              <a:sym typeface="Times New Roman"/>
            </a:endParaRPr>
          </a:p>
        </p:txBody>
      </p:sp>
      <p:sp>
        <p:nvSpPr>
          <p:cNvPr id="70" name="Google Shape;70;p14"/>
          <p:cNvSpPr txBox="1"/>
          <p:nvPr>
            <p:ph idx="1" type="body"/>
          </p:nvPr>
        </p:nvSpPr>
        <p:spPr>
          <a:xfrm>
            <a:off x="311700" y="1225225"/>
            <a:ext cx="8520600" cy="3354000"/>
          </a:xfrm>
          <a:prstGeom prst="rect">
            <a:avLst/>
          </a:prstGeom>
        </p:spPr>
        <p:txBody>
          <a:bodyPr anchorCtr="0" anchor="t" bIns="91425" lIns="91425" spcFirstLastPara="1" rIns="91425" wrap="square" tIns="91425">
            <a:normAutofit lnSpcReduction="10000"/>
          </a:bodyPr>
          <a:lstStyle/>
          <a:p>
            <a:pPr indent="0" lvl="0" marL="292100" rtl="0" algn="l">
              <a:spcBef>
                <a:spcPts val="1500"/>
              </a:spcBef>
              <a:spcAft>
                <a:spcPts val="1500"/>
              </a:spcAft>
              <a:buNone/>
            </a:pPr>
            <a:r>
              <a:rPr lang="en" sz="1600">
                <a:highlight>
                  <a:srgbClr val="FFFFFF"/>
                </a:highlight>
                <a:latin typeface="Merriweather"/>
                <a:ea typeface="Merriweather"/>
                <a:cs typeface="Merriweather"/>
                <a:sym typeface="Merriweather"/>
              </a:rPr>
              <a:t>On May 14, 2021, our team was alerted to an intrusion within our system, we as the digital forensics team, and we as the intrusion detection team, were requested to study the case, documented in the GitHub is our findings (Digital Forensics) and our solutions to prevent this from happening in the future (Intrusion Detection).  The email was first sent to an employee on May 3</a:t>
            </a:r>
            <a:r>
              <a:rPr baseline="30000" lang="en" sz="2000">
                <a:highlight>
                  <a:srgbClr val="FFFFFF"/>
                </a:highlight>
                <a:latin typeface="Merriweather"/>
                <a:ea typeface="Merriweather"/>
                <a:cs typeface="Merriweather"/>
                <a:sym typeface="Merriweather"/>
              </a:rPr>
              <a:t>rd,</a:t>
            </a:r>
            <a:r>
              <a:rPr lang="en" sz="1600">
                <a:highlight>
                  <a:srgbClr val="FFFFFF"/>
                </a:highlight>
                <a:latin typeface="Merriweather"/>
                <a:ea typeface="Merriweather"/>
                <a:cs typeface="Merriweather"/>
                <a:sym typeface="Merriweather"/>
              </a:rPr>
              <a:t> which was an excel sheet with the macros for URSNIF. On May 14</a:t>
            </a:r>
            <a:r>
              <a:rPr baseline="30000" lang="en" sz="2000">
                <a:highlight>
                  <a:srgbClr val="FFFFFF"/>
                </a:highlight>
                <a:latin typeface="Merriweather"/>
                <a:ea typeface="Merriweather"/>
                <a:cs typeface="Merriweather"/>
                <a:sym typeface="Merriweather"/>
              </a:rPr>
              <a:t>th</a:t>
            </a:r>
            <a:r>
              <a:rPr lang="en" sz="1600">
                <a:highlight>
                  <a:srgbClr val="FFFFFF"/>
                </a:highlight>
                <a:latin typeface="Merriweather"/>
                <a:ea typeface="Merriweather"/>
                <a:cs typeface="Merriweather"/>
                <a:sym typeface="Merriweather"/>
              </a:rPr>
              <a:t> another email was sent, that was similar in nature. URSNIF is more commonly referred to as a banking trojan. Originally identified in 2006, there was a GitHub leak of the source code for this trojan.  Due to the recent event we, as the IDS team, will be working with the digital </a:t>
            </a:r>
            <a:r>
              <a:rPr lang="en" sz="1600">
                <a:highlight>
                  <a:srgbClr val="FFFFFF"/>
                </a:highlight>
                <a:latin typeface="Merriweather"/>
                <a:ea typeface="Merriweather"/>
                <a:cs typeface="Merriweather"/>
                <a:sym typeface="Merriweather"/>
              </a:rPr>
              <a:t>forensics team, not only find the root of the problem but also come together and create a solution so that this will not happen again.</a:t>
            </a:r>
            <a:endParaRPr sz="2200">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ph type="title"/>
          </p:nvPr>
        </p:nvSpPr>
        <p:spPr>
          <a:xfrm>
            <a:off x="265500" y="1718250"/>
            <a:ext cx="4045200" cy="1707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Summary of the Project</a:t>
            </a:r>
            <a:endParaRPr>
              <a:solidFill>
                <a:schemeClr val="dk1"/>
              </a:solidFill>
              <a:latin typeface="Times New Roman"/>
              <a:ea typeface="Times New Roman"/>
              <a:cs typeface="Times New Roman"/>
              <a:sym typeface="Times New Roman"/>
            </a:endParaRPr>
          </a:p>
        </p:txBody>
      </p:sp>
      <p:sp>
        <p:nvSpPr>
          <p:cNvPr id="76" name="Google Shape;76;p15"/>
          <p:cNvSpPr txBox="1"/>
          <p:nvPr/>
        </p:nvSpPr>
        <p:spPr>
          <a:xfrm>
            <a:off x="4829675" y="592650"/>
            <a:ext cx="4045200" cy="3958200"/>
          </a:xfrm>
          <a:prstGeom prst="rect">
            <a:avLst/>
          </a:prstGeom>
          <a:solidFill>
            <a:schemeClr val="lt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lt1"/>
                </a:solidFill>
                <a:latin typeface="Merriweather"/>
                <a:ea typeface="Merriweather"/>
                <a:cs typeface="Merriweather"/>
                <a:sym typeface="Merriweather"/>
              </a:rPr>
              <a:t>For this project, we will be implementing an intrusion </a:t>
            </a:r>
            <a:r>
              <a:rPr lang="en" sz="2300">
                <a:solidFill>
                  <a:schemeClr val="lt1"/>
                </a:solidFill>
                <a:latin typeface="Merriweather"/>
                <a:ea typeface="Merriweather"/>
                <a:cs typeface="Merriweather"/>
                <a:sym typeface="Merriweather"/>
              </a:rPr>
              <a:t>detection</a:t>
            </a:r>
            <a:r>
              <a:rPr lang="en" sz="2300">
                <a:solidFill>
                  <a:schemeClr val="lt1"/>
                </a:solidFill>
                <a:latin typeface="Merriweather"/>
                <a:ea typeface="Merriweather"/>
                <a:cs typeface="Merriweather"/>
                <a:sym typeface="Merriweather"/>
              </a:rPr>
              <a:t> system, utilizing suricata. For this we will be implementing our own clauses into suricata, and from there creating a system that we can gather more information for further projects.</a:t>
            </a:r>
            <a:endParaRPr sz="2300">
              <a:solidFill>
                <a:schemeClr val="lt1"/>
              </a:solidFill>
              <a:latin typeface="Merriweather"/>
              <a:ea typeface="Merriweather"/>
              <a:cs typeface="Merriweather"/>
              <a:sym typeface="Merriweath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dk1"/>
                </a:solidFill>
              </a:rPr>
              <a:t>Scope</a:t>
            </a:r>
            <a:endParaRPr>
              <a:solidFill>
                <a:schemeClr val="dk1"/>
              </a:solidFill>
            </a:endParaRPr>
          </a:p>
        </p:txBody>
      </p:sp>
      <p:sp>
        <p:nvSpPr>
          <p:cNvPr id="82" name="Google Shape;82;p16"/>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t/>
            </a:r>
            <a:endParaRPr b="1" sz="1100">
              <a:latin typeface="Arial"/>
              <a:ea typeface="Arial"/>
              <a:cs typeface="Arial"/>
              <a:sym typeface="Arial"/>
            </a:endParaRPr>
          </a:p>
          <a:p>
            <a:pPr indent="0" lvl="0" marL="0" rtl="0" algn="l">
              <a:spcBef>
                <a:spcPts val="1200"/>
              </a:spcBef>
              <a:spcAft>
                <a:spcPts val="1200"/>
              </a:spcAft>
              <a:buNone/>
            </a:pPr>
            <a:r>
              <a:rPr lang="en">
                <a:latin typeface="Times New Roman"/>
                <a:ea typeface="Times New Roman"/>
                <a:cs typeface="Times New Roman"/>
                <a:sym typeface="Times New Roman"/>
              </a:rPr>
              <a:t>This project designs, implements, and documents an end-to-end workflow that uses Security Onion (Suricata + Zeek) and Wireshark-based digital forensics to detect, reconstruct, and analyze a malware infection in captured network traffic, then produce actionable IOCs, a case report, and a short live demo that shows how detection and investigation work together.</a:t>
            </a:r>
            <a:endParaRPr sz="25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265500" y="1718250"/>
            <a:ext cx="4045200" cy="1707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Materials</a:t>
            </a:r>
            <a:endParaRPr>
              <a:solidFill>
                <a:schemeClr val="dk1"/>
              </a:solidFill>
              <a:latin typeface="Times New Roman"/>
              <a:ea typeface="Times New Roman"/>
              <a:cs typeface="Times New Roman"/>
              <a:sym typeface="Times New Roman"/>
            </a:endParaRPr>
          </a:p>
        </p:txBody>
      </p:sp>
      <p:sp>
        <p:nvSpPr>
          <p:cNvPr id="88" name="Google Shape;88;p1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lnSpcReduction="10000"/>
          </a:bodyPr>
          <a:lstStyle/>
          <a:p>
            <a:pPr indent="-342900" lvl="0" marL="457200" rtl="0" algn="l">
              <a:spcBef>
                <a:spcPts val="0"/>
              </a:spcBef>
              <a:spcAft>
                <a:spcPts val="0"/>
              </a:spcAft>
              <a:buSzPts val="1800"/>
              <a:buChar char="-"/>
            </a:pPr>
            <a:r>
              <a:rPr lang="en">
                <a:latin typeface="Times New Roman"/>
                <a:ea typeface="Times New Roman"/>
                <a:cs typeface="Times New Roman"/>
                <a:sym typeface="Times New Roman"/>
              </a:rPr>
              <a:t>A system with Wireshark</a:t>
            </a:r>
            <a:r>
              <a:rPr b="1" lang="en">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VMware</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Security Onion </a:t>
            </a:r>
            <a:r>
              <a:rPr b="1" lang="en">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Kali system run through the VM</a:t>
            </a:r>
            <a:r>
              <a:rPr b="1" lang="en">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u="sng">
                <a:latin typeface="Times New Roman"/>
                <a:ea typeface="Times New Roman"/>
                <a:cs typeface="Times New Roman"/>
                <a:sym typeface="Times New Roman"/>
                <a:hlinkClick r:id="rId3"/>
              </a:rPr>
              <a:t>https://www.malware-traffic-analysis.net/index.html</a:t>
            </a:r>
            <a:r>
              <a:rPr b="1" lang="en">
                <a:latin typeface="Times New Roman"/>
                <a:ea typeface="Times New Roman"/>
                <a:cs typeface="Times New Roman"/>
                <a:sym typeface="Times New Roman"/>
              </a:rPr>
              <a:t> </a:t>
            </a:r>
            <a:endParaRPr b="1">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a:latin typeface="Times New Roman"/>
                <a:ea typeface="Times New Roman"/>
                <a:cs typeface="Times New Roman"/>
                <a:sym typeface="Times New Roman"/>
              </a:rPr>
              <a:t>Private network, to be able to utilize security onion and its resources without anything blocking or interfering</a:t>
            </a:r>
            <a:endParaRPr b="1">
              <a:latin typeface="Times New Roman"/>
              <a:ea typeface="Times New Roman"/>
              <a:cs typeface="Times New Roman"/>
              <a:sym typeface="Times New Roman"/>
            </a:endParaRPr>
          </a:p>
          <a:p>
            <a:pPr indent="0" lvl="0" marL="45720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pic>
        <p:nvPicPr>
          <p:cNvPr descr="help make this slide better" id="93" name="Google Shape;93;p18"/>
          <p:cNvPicPr preferRelativeResize="0"/>
          <p:nvPr/>
        </p:nvPicPr>
        <p:blipFill>
          <a:blip r:embed="rId3">
            <a:alphaModFix/>
          </a:blip>
          <a:stretch>
            <a:fillRect/>
          </a:stretch>
        </p:blipFill>
        <p:spPr>
          <a:xfrm>
            <a:off x="0" y="19936"/>
            <a:ext cx="9143545" cy="5103381"/>
          </a:xfrm>
          <a:prstGeom prst="rect">
            <a:avLst/>
          </a:prstGeom>
          <a:noFill/>
          <a:ln>
            <a:noFill/>
          </a:ln>
        </p:spPr>
      </p:pic>
      <p:cxnSp>
        <p:nvCxnSpPr>
          <p:cNvPr id="94" name="Google Shape;94;p18"/>
          <p:cNvCxnSpPr/>
          <p:nvPr/>
        </p:nvCxnSpPr>
        <p:spPr>
          <a:xfrm flipH="1" rot="10800000">
            <a:off x="1992200" y="775225"/>
            <a:ext cx="738900" cy="14400"/>
          </a:xfrm>
          <a:prstGeom prst="straightConnector1">
            <a:avLst/>
          </a:prstGeom>
          <a:noFill/>
          <a:ln cap="flat" cmpd="sng" w="9525">
            <a:solidFill>
              <a:srgbClr val="FF0000"/>
            </a:solidFill>
            <a:prstDash val="solid"/>
            <a:round/>
            <a:headEnd len="med" w="med" type="none"/>
            <a:tailEnd len="med" w="med" type="none"/>
          </a:ln>
        </p:spPr>
      </p:cxnSp>
      <p:cxnSp>
        <p:nvCxnSpPr>
          <p:cNvPr id="95" name="Google Shape;95;p18"/>
          <p:cNvCxnSpPr/>
          <p:nvPr/>
        </p:nvCxnSpPr>
        <p:spPr>
          <a:xfrm>
            <a:off x="3962675" y="753425"/>
            <a:ext cx="738900" cy="7200"/>
          </a:xfrm>
          <a:prstGeom prst="straightConnector1">
            <a:avLst/>
          </a:prstGeom>
          <a:noFill/>
          <a:ln cap="flat" cmpd="sng" w="9525">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773700" y="1806450"/>
            <a:ext cx="7596600" cy="153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latin typeface="Times New Roman"/>
                <a:ea typeface="Times New Roman"/>
                <a:cs typeface="Times New Roman"/>
                <a:sym typeface="Times New Roman"/>
              </a:rPr>
              <a:t>MILESTONES</a:t>
            </a:r>
            <a:endParaRPr>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p:nvPr/>
        </p:nvSpPr>
        <p:spPr>
          <a:xfrm>
            <a:off x="340934" y="2199000"/>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06" name="Google Shape;106;p20"/>
          <p:cNvSpPr txBox="1"/>
          <p:nvPr>
            <p:ph idx="4294967295" type="body"/>
          </p:nvPr>
        </p:nvSpPr>
        <p:spPr>
          <a:xfrm>
            <a:off x="340923" y="2336550"/>
            <a:ext cx="14556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M1</a:t>
            </a:r>
            <a:endParaRPr>
              <a:solidFill>
                <a:schemeClr val="lt1"/>
              </a:solidFill>
            </a:endParaRPr>
          </a:p>
        </p:txBody>
      </p:sp>
      <p:grpSp>
        <p:nvGrpSpPr>
          <p:cNvPr id="107" name="Google Shape;107;p20"/>
          <p:cNvGrpSpPr/>
          <p:nvPr/>
        </p:nvGrpSpPr>
        <p:grpSpPr>
          <a:xfrm>
            <a:off x="912820" y="1610215"/>
            <a:ext cx="198900" cy="593656"/>
            <a:chOff x="777447" y="1610215"/>
            <a:chExt cx="198900" cy="593656"/>
          </a:xfrm>
        </p:grpSpPr>
        <p:cxnSp>
          <p:nvCxnSpPr>
            <p:cNvPr id="108" name="Google Shape;108;p20"/>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09" name="Google Shape;109;p20"/>
            <p:cNvSpPr/>
            <p:nvPr/>
          </p:nvSpPr>
          <p:spPr>
            <a:xfrm>
              <a:off x="777447"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20"/>
          <p:cNvSpPr txBox="1"/>
          <p:nvPr>
            <p:ph idx="4294967295" type="body"/>
          </p:nvPr>
        </p:nvSpPr>
        <p:spPr>
          <a:xfrm>
            <a:off x="318375" y="374700"/>
            <a:ext cx="20511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highlight>
                  <a:srgbClr val="FFFFFF"/>
                </a:highlight>
                <a:latin typeface="Times New Roman"/>
                <a:ea typeface="Times New Roman"/>
                <a:cs typeface="Times New Roman"/>
                <a:sym typeface="Times New Roman"/>
              </a:rPr>
              <a:t>Security Onion up, baseline &amp; capture filters documented.</a:t>
            </a:r>
            <a:endParaRPr sz="2200"/>
          </a:p>
        </p:txBody>
      </p:sp>
      <p:sp>
        <p:nvSpPr>
          <p:cNvPr id="111" name="Google Shape;111;p20"/>
          <p:cNvSpPr/>
          <p:nvPr/>
        </p:nvSpPr>
        <p:spPr>
          <a:xfrm>
            <a:off x="1817054"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2" name="Google Shape;112;p20"/>
          <p:cNvSpPr txBox="1"/>
          <p:nvPr>
            <p:ph idx="4294967295" type="body"/>
          </p:nvPr>
        </p:nvSpPr>
        <p:spPr>
          <a:xfrm>
            <a:off x="2126317"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M2</a:t>
            </a:r>
            <a:endParaRPr>
              <a:solidFill>
                <a:schemeClr val="lt1"/>
              </a:solidFill>
            </a:endParaRPr>
          </a:p>
        </p:txBody>
      </p:sp>
      <p:grpSp>
        <p:nvGrpSpPr>
          <p:cNvPr id="113" name="Google Shape;113;p20"/>
          <p:cNvGrpSpPr/>
          <p:nvPr/>
        </p:nvGrpSpPr>
        <p:grpSpPr>
          <a:xfrm>
            <a:off x="2266282" y="2938958"/>
            <a:ext cx="198900" cy="593656"/>
            <a:chOff x="2223534" y="2938958"/>
            <a:chExt cx="198900" cy="593656"/>
          </a:xfrm>
        </p:grpSpPr>
        <p:cxnSp>
          <p:nvCxnSpPr>
            <p:cNvPr id="114" name="Google Shape;114;p20"/>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15" name="Google Shape;115;p20"/>
            <p:cNvSpPr/>
            <p:nvPr/>
          </p:nvSpPr>
          <p:spPr>
            <a:xfrm flipH="1" rot="10800000">
              <a:off x="2223534" y="3333714"/>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6" name="Google Shape;116;p20"/>
          <p:cNvSpPr txBox="1"/>
          <p:nvPr>
            <p:ph idx="4294967295" type="body"/>
          </p:nvPr>
        </p:nvSpPr>
        <p:spPr>
          <a:xfrm>
            <a:off x="1312137" y="3602750"/>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highlight>
                  <a:srgbClr val="FFFFFF"/>
                </a:highlight>
                <a:latin typeface="Times New Roman"/>
                <a:ea typeface="Times New Roman"/>
                <a:cs typeface="Times New Roman"/>
                <a:sym typeface="Times New Roman"/>
              </a:rPr>
              <a:t>Initial Suricata rule pack + Zeek logs validated.</a:t>
            </a:r>
            <a:endParaRPr sz="2200"/>
          </a:p>
        </p:txBody>
      </p:sp>
      <p:sp>
        <p:nvSpPr>
          <p:cNvPr id="117" name="Google Shape;117;p20"/>
          <p:cNvSpPr/>
          <p:nvPr/>
        </p:nvSpPr>
        <p:spPr>
          <a:xfrm>
            <a:off x="347197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18" name="Google Shape;118;p20"/>
          <p:cNvSpPr txBox="1"/>
          <p:nvPr>
            <p:ph idx="4294967295" type="body"/>
          </p:nvPr>
        </p:nvSpPr>
        <p:spPr>
          <a:xfrm>
            <a:off x="3767755"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M3</a:t>
            </a:r>
            <a:endParaRPr>
              <a:solidFill>
                <a:schemeClr val="lt1"/>
              </a:solidFill>
            </a:endParaRPr>
          </a:p>
        </p:txBody>
      </p:sp>
      <p:grpSp>
        <p:nvGrpSpPr>
          <p:cNvPr id="119" name="Google Shape;119;p20"/>
          <p:cNvGrpSpPr/>
          <p:nvPr/>
        </p:nvGrpSpPr>
        <p:grpSpPr>
          <a:xfrm>
            <a:off x="4058732" y="1610215"/>
            <a:ext cx="198900" cy="593656"/>
            <a:chOff x="3918084" y="1610215"/>
            <a:chExt cx="198900" cy="593656"/>
          </a:xfrm>
        </p:grpSpPr>
        <p:cxnSp>
          <p:nvCxnSpPr>
            <p:cNvPr id="120" name="Google Shape;120;p20"/>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21" name="Google Shape;121;p20"/>
            <p:cNvSpPr/>
            <p:nvPr/>
          </p:nvSpPr>
          <p:spPr>
            <a:xfrm>
              <a:off x="3918084"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20"/>
          <p:cNvSpPr txBox="1"/>
          <p:nvPr>
            <p:ph idx="4294967295" type="body"/>
          </p:nvPr>
        </p:nvSpPr>
        <p:spPr>
          <a:xfrm>
            <a:off x="3164300" y="241550"/>
            <a:ext cx="2522400" cy="1303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Times New Roman"/>
                <a:ea typeface="Times New Roman"/>
                <a:cs typeface="Times New Roman"/>
                <a:sym typeface="Times New Roman"/>
              </a:rPr>
              <a:t>Hunt runbook + tuning (suppressions/thresholds) + metrics.</a:t>
            </a:r>
            <a:endParaRPr/>
          </a:p>
        </p:txBody>
      </p:sp>
      <p:sp>
        <p:nvSpPr>
          <p:cNvPr id="123" name="Google Shape;123;p20"/>
          <p:cNvSpPr/>
          <p:nvPr/>
        </p:nvSpPr>
        <p:spPr>
          <a:xfrm>
            <a:off x="512689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24" name="Google Shape;124;p20"/>
          <p:cNvSpPr txBox="1"/>
          <p:nvPr>
            <p:ph idx="4294967295" type="body"/>
          </p:nvPr>
        </p:nvSpPr>
        <p:spPr>
          <a:xfrm>
            <a:off x="5416699"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M4</a:t>
            </a:r>
            <a:endParaRPr>
              <a:solidFill>
                <a:schemeClr val="lt1"/>
              </a:solidFill>
            </a:endParaRPr>
          </a:p>
        </p:txBody>
      </p:sp>
      <p:grpSp>
        <p:nvGrpSpPr>
          <p:cNvPr id="125" name="Google Shape;125;p20"/>
          <p:cNvGrpSpPr/>
          <p:nvPr/>
        </p:nvGrpSpPr>
        <p:grpSpPr>
          <a:xfrm>
            <a:off x="5973070" y="2938958"/>
            <a:ext cx="198900" cy="593656"/>
            <a:chOff x="5958946" y="2938958"/>
            <a:chExt cx="198900" cy="593656"/>
          </a:xfrm>
        </p:grpSpPr>
        <p:cxnSp>
          <p:nvCxnSpPr>
            <p:cNvPr id="126" name="Google Shape;126;p20"/>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27" name="Google Shape;127;p20"/>
            <p:cNvSpPr/>
            <p:nvPr/>
          </p:nvSpPr>
          <p:spPr>
            <a:xfrm flipH="1" rot="10800000">
              <a:off x="5958946" y="3333714"/>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 name="Google Shape;128;p20"/>
          <p:cNvSpPr txBox="1"/>
          <p:nvPr>
            <p:ph idx="4294967295" type="body"/>
          </p:nvPr>
        </p:nvSpPr>
        <p:spPr>
          <a:xfrm>
            <a:off x="5126902" y="3757725"/>
            <a:ext cx="2242800" cy="906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Live detection demo + short tuning report.</a:t>
            </a:r>
            <a:endParaRPr/>
          </a:p>
        </p:txBody>
      </p:sp>
      <p:sp>
        <p:nvSpPr>
          <p:cNvPr id="129" name="Google Shape;129;p20"/>
          <p:cNvSpPr/>
          <p:nvPr/>
        </p:nvSpPr>
        <p:spPr>
          <a:xfrm>
            <a:off x="678181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30" name="Google Shape;130;p20"/>
          <p:cNvSpPr txBox="1"/>
          <p:nvPr>
            <p:ph idx="4294967295" type="body"/>
          </p:nvPr>
        </p:nvSpPr>
        <p:spPr>
          <a:xfrm>
            <a:off x="7111512"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M5</a:t>
            </a:r>
            <a:endParaRPr>
              <a:solidFill>
                <a:schemeClr val="lt1"/>
              </a:solidFill>
            </a:endParaRPr>
          </a:p>
        </p:txBody>
      </p:sp>
      <p:grpSp>
        <p:nvGrpSpPr>
          <p:cNvPr id="131" name="Google Shape;131;p20"/>
          <p:cNvGrpSpPr/>
          <p:nvPr/>
        </p:nvGrpSpPr>
        <p:grpSpPr>
          <a:xfrm>
            <a:off x="7669807" y="1610215"/>
            <a:ext cx="198900" cy="593656"/>
            <a:chOff x="3918084" y="1610215"/>
            <a:chExt cx="198900" cy="593656"/>
          </a:xfrm>
        </p:grpSpPr>
        <p:cxnSp>
          <p:nvCxnSpPr>
            <p:cNvPr id="132" name="Google Shape;132;p20"/>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33" name="Google Shape;133;p20"/>
            <p:cNvSpPr/>
            <p:nvPr/>
          </p:nvSpPr>
          <p:spPr>
            <a:xfrm>
              <a:off x="3918084"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20"/>
          <p:cNvSpPr txBox="1"/>
          <p:nvPr>
            <p:ph idx="4294967295" type="body"/>
          </p:nvPr>
        </p:nvSpPr>
        <p:spPr>
          <a:xfrm>
            <a:off x="7144825" y="941450"/>
            <a:ext cx="1325100" cy="536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Times New Roman"/>
                <a:ea typeface="Times New Roman"/>
                <a:cs typeface="Times New Roman"/>
                <a:sym typeface="Times New Roman"/>
              </a:rPr>
              <a:t>Future work</a:t>
            </a:r>
            <a:endParaRPr/>
          </a:p>
        </p:txBody>
      </p:sp>
      <p:sp>
        <p:nvSpPr>
          <p:cNvPr id="135" name="Google Shape;135;p20"/>
          <p:cNvSpPr txBox="1"/>
          <p:nvPr/>
        </p:nvSpPr>
        <p:spPr>
          <a:xfrm>
            <a:off x="7984075" y="4664025"/>
            <a:ext cx="1044900" cy="4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Merriweather"/>
                <a:ea typeface="Merriweather"/>
                <a:cs typeface="Merriweather"/>
                <a:sym typeface="Merriweather"/>
              </a:rPr>
              <a:t>IDS</a:t>
            </a:r>
            <a:endParaRPr sz="1600">
              <a:solidFill>
                <a:schemeClr val="dk1"/>
              </a:solidFill>
              <a:latin typeface="Merriweather"/>
              <a:ea typeface="Merriweather"/>
              <a:cs typeface="Merriweather"/>
              <a:sym typeface="Merriweath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p:nvPr/>
        </p:nvSpPr>
        <p:spPr>
          <a:xfrm>
            <a:off x="340934" y="2199000"/>
            <a:ext cx="1872300" cy="745500"/>
          </a:xfrm>
          <a:prstGeom prst="homePlate">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1" name="Google Shape;141;p21"/>
          <p:cNvSpPr txBox="1"/>
          <p:nvPr>
            <p:ph idx="4294967295" type="body"/>
          </p:nvPr>
        </p:nvSpPr>
        <p:spPr>
          <a:xfrm>
            <a:off x="340923" y="2336550"/>
            <a:ext cx="14556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M1</a:t>
            </a:r>
            <a:endParaRPr>
              <a:solidFill>
                <a:schemeClr val="lt1"/>
              </a:solidFill>
            </a:endParaRPr>
          </a:p>
        </p:txBody>
      </p:sp>
      <p:grpSp>
        <p:nvGrpSpPr>
          <p:cNvPr id="142" name="Google Shape;142;p21"/>
          <p:cNvGrpSpPr/>
          <p:nvPr/>
        </p:nvGrpSpPr>
        <p:grpSpPr>
          <a:xfrm>
            <a:off x="912820" y="1610215"/>
            <a:ext cx="198900" cy="593656"/>
            <a:chOff x="777447" y="1610215"/>
            <a:chExt cx="198900" cy="593656"/>
          </a:xfrm>
        </p:grpSpPr>
        <p:cxnSp>
          <p:nvCxnSpPr>
            <p:cNvPr id="143" name="Google Shape;143;p21"/>
            <p:cNvCxnSpPr/>
            <p:nvPr/>
          </p:nvCxnSpPr>
          <p:spPr>
            <a:xfrm>
              <a:off x="876909" y="1649171"/>
              <a:ext cx="0" cy="554700"/>
            </a:xfrm>
            <a:prstGeom prst="straightConnector1">
              <a:avLst/>
            </a:prstGeom>
            <a:noFill/>
            <a:ln cap="flat" cmpd="sng" w="9525">
              <a:solidFill>
                <a:schemeClr val="dk2"/>
              </a:solidFill>
              <a:prstDash val="solid"/>
              <a:round/>
              <a:headEnd len="sm" w="sm" type="none"/>
              <a:tailEnd len="sm" w="sm" type="none"/>
            </a:ln>
          </p:spPr>
        </p:cxnSp>
        <p:sp>
          <p:nvSpPr>
            <p:cNvPr id="144" name="Google Shape;144;p21"/>
            <p:cNvSpPr/>
            <p:nvPr/>
          </p:nvSpPr>
          <p:spPr>
            <a:xfrm>
              <a:off x="777447"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 name="Google Shape;145;p21"/>
          <p:cNvSpPr txBox="1"/>
          <p:nvPr>
            <p:ph idx="4294967295" type="body"/>
          </p:nvPr>
        </p:nvSpPr>
        <p:spPr>
          <a:xfrm>
            <a:off x="318375" y="374700"/>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highlight>
                  <a:srgbClr val="FFFFFF"/>
                </a:highlight>
                <a:latin typeface="Times New Roman"/>
                <a:ea typeface="Times New Roman"/>
                <a:cs typeface="Times New Roman"/>
                <a:sym typeface="Times New Roman"/>
              </a:rPr>
              <a:t>Case scope, chain-of-custody.</a:t>
            </a:r>
            <a:endParaRPr sz="2400">
              <a:latin typeface="Times New Roman"/>
              <a:ea typeface="Times New Roman"/>
              <a:cs typeface="Times New Roman"/>
              <a:sym typeface="Times New Roman"/>
            </a:endParaRPr>
          </a:p>
        </p:txBody>
      </p:sp>
      <p:sp>
        <p:nvSpPr>
          <p:cNvPr id="146" name="Google Shape;146;p21"/>
          <p:cNvSpPr/>
          <p:nvPr/>
        </p:nvSpPr>
        <p:spPr>
          <a:xfrm>
            <a:off x="1817054"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7" name="Google Shape;147;p21"/>
          <p:cNvSpPr txBox="1"/>
          <p:nvPr>
            <p:ph idx="4294967295" type="body"/>
          </p:nvPr>
        </p:nvSpPr>
        <p:spPr>
          <a:xfrm>
            <a:off x="2126317"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M2</a:t>
            </a:r>
            <a:endParaRPr>
              <a:solidFill>
                <a:schemeClr val="lt1"/>
              </a:solidFill>
            </a:endParaRPr>
          </a:p>
        </p:txBody>
      </p:sp>
      <p:grpSp>
        <p:nvGrpSpPr>
          <p:cNvPr id="148" name="Google Shape;148;p21"/>
          <p:cNvGrpSpPr/>
          <p:nvPr/>
        </p:nvGrpSpPr>
        <p:grpSpPr>
          <a:xfrm>
            <a:off x="2266282" y="2938958"/>
            <a:ext cx="198900" cy="593656"/>
            <a:chOff x="2223534" y="2938958"/>
            <a:chExt cx="198900" cy="593656"/>
          </a:xfrm>
        </p:grpSpPr>
        <p:cxnSp>
          <p:nvCxnSpPr>
            <p:cNvPr id="149" name="Google Shape;149;p21"/>
            <p:cNvCxnSpPr/>
            <p:nvPr/>
          </p:nvCxnSpPr>
          <p:spPr>
            <a:xfrm rot="10800000">
              <a:off x="2322997" y="2938958"/>
              <a:ext cx="0" cy="554700"/>
            </a:xfrm>
            <a:prstGeom prst="straightConnector1">
              <a:avLst/>
            </a:prstGeom>
            <a:noFill/>
            <a:ln cap="flat" cmpd="sng" w="9525">
              <a:solidFill>
                <a:schemeClr val="dk2"/>
              </a:solidFill>
              <a:prstDash val="solid"/>
              <a:round/>
              <a:headEnd len="sm" w="sm" type="none"/>
              <a:tailEnd len="sm" w="sm" type="none"/>
            </a:ln>
          </p:spPr>
        </p:cxnSp>
        <p:sp>
          <p:nvSpPr>
            <p:cNvPr id="150" name="Google Shape;150;p21"/>
            <p:cNvSpPr/>
            <p:nvPr/>
          </p:nvSpPr>
          <p:spPr>
            <a:xfrm flipH="1" rot="10800000">
              <a:off x="2223534" y="3333714"/>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1" name="Google Shape;151;p21"/>
          <p:cNvSpPr txBox="1"/>
          <p:nvPr>
            <p:ph idx="4294967295" type="body"/>
          </p:nvPr>
        </p:nvSpPr>
        <p:spPr>
          <a:xfrm>
            <a:off x="1312137" y="3602750"/>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highlight>
                  <a:srgbClr val="FFFFFF"/>
                </a:highlight>
                <a:latin typeface="Times New Roman"/>
                <a:ea typeface="Times New Roman"/>
                <a:cs typeface="Times New Roman"/>
                <a:sym typeface="Times New Roman"/>
              </a:rPr>
              <a:t>Wireshark reconstruction + artifact extraction</a:t>
            </a:r>
            <a:r>
              <a:rPr lang="en">
                <a:highlight>
                  <a:srgbClr val="FFFFFF"/>
                </a:highlight>
                <a:latin typeface="Merriweather"/>
                <a:ea typeface="Merriweather"/>
                <a:cs typeface="Merriweather"/>
                <a:sym typeface="Merriweather"/>
              </a:rPr>
              <a:t>. </a:t>
            </a:r>
            <a:endParaRPr sz="2100">
              <a:latin typeface="Merriweather"/>
              <a:ea typeface="Merriweather"/>
              <a:cs typeface="Merriweather"/>
              <a:sym typeface="Merriweather"/>
            </a:endParaRPr>
          </a:p>
        </p:txBody>
      </p:sp>
      <p:sp>
        <p:nvSpPr>
          <p:cNvPr id="152" name="Google Shape;152;p21"/>
          <p:cNvSpPr/>
          <p:nvPr/>
        </p:nvSpPr>
        <p:spPr>
          <a:xfrm>
            <a:off x="347197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3" name="Google Shape;153;p21"/>
          <p:cNvSpPr txBox="1"/>
          <p:nvPr>
            <p:ph idx="4294967295" type="body"/>
          </p:nvPr>
        </p:nvSpPr>
        <p:spPr>
          <a:xfrm>
            <a:off x="3767755"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M3</a:t>
            </a:r>
            <a:endParaRPr>
              <a:solidFill>
                <a:schemeClr val="lt1"/>
              </a:solidFill>
            </a:endParaRPr>
          </a:p>
        </p:txBody>
      </p:sp>
      <p:grpSp>
        <p:nvGrpSpPr>
          <p:cNvPr id="154" name="Google Shape;154;p21"/>
          <p:cNvGrpSpPr/>
          <p:nvPr/>
        </p:nvGrpSpPr>
        <p:grpSpPr>
          <a:xfrm>
            <a:off x="4058732" y="1610215"/>
            <a:ext cx="198900" cy="593656"/>
            <a:chOff x="3918084" y="1610215"/>
            <a:chExt cx="198900" cy="593656"/>
          </a:xfrm>
        </p:grpSpPr>
        <p:cxnSp>
          <p:nvCxnSpPr>
            <p:cNvPr id="155" name="Google Shape;155;p21"/>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56" name="Google Shape;156;p21"/>
            <p:cNvSpPr/>
            <p:nvPr/>
          </p:nvSpPr>
          <p:spPr>
            <a:xfrm>
              <a:off x="3918084"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7" name="Google Shape;157;p21"/>
          <p:cNvSpPr txBox="1"/>
          <p:nvPr>
            <p:ph idx="4294967295" type="body"/>
          </p:nvPr>
        </p:nvSpPr>
        <p:spPr>
          <a:xfrm>
            <a:off x="3164300" y="241550"/>
            <a:ext cx="2522400" cy="13038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a:latin typeface="Times New Roman"/>
                <a:ea typeface="Times New Roman"/>
                <a:cs typeface="Times New Roman"/>
                <a:sym typeface="Times New Roman"/>
              </a:rPr>
              <a:t>(Optional) Memory/Disk triage and correlation to PCAP.</a:t>
            </a:r>
            <a:endParaRPr sz="2400">
              <a:latin typeface="Times New Roman"/>
              <a:ea typeface="Times New Roman"/>
              <a:cs typeface="Times New Roman"/>
              <a:sym typeface="Times New Roman"/>
            </a:endParaRPr>
          </a:p>
        </p:txBody>
      </p:sp>
      <p:sp>
        <p:nvSpPr>
          <p:cNvPr id="158" name="Google Shape;158;p21"/>
          <p:cNvSpPr/>
          <p:nvPr/>
        </p:nvSpPr>
        <p:spPr>
          <a:xfrm>
            <a:off x="512689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9" name="Google Shape;159;p21"/>
          <p:cNvSpPr txBox="1"/>
          <p:nvPr>
            <p:ph idx="4294967295" type="body"/>
          </p:nvPr>
        </p:nvSpPr>
        <p:spPr>
          <a:xfrm>
            <a:off x="5416699"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M4</a:t>
            </a:r>
            <a:endParaRPr>
              <a:solidFill>
                <a:schemeClr val="lt1"/>
              </a:solidFill>
            </a:endParaRPr>
          </a:p>
        </p:txBody>
      </p:sp>
      <p:grpSp>
        <p:nvGrpSpPr>
          <p:cNvPr id="160" name="Google Shape;160;p21"/>
          <p:cNvGrpSpPr/>
          <p:nvPr/>
        </p:nvGrpSpPr>
        <p:grpSpPr>
          <a:xfrm>
            <a:off x="5973070" y="2938958"/>
            <a:ext cx="198900" cy="593656"/>
            <a:chOff x="5958946" y="2938958"/>
            <a:chExt cx="198900" cy="593656"/>
          </a:xfrm>
        </p:grpSpPr>
        <p:cxnSp>
          <p:nvCxnSpPr>
            <p:cNvPr id="161" name="Google Shape;161;p21"/>
            <p:cNvCxnSpPr/>
            <p:nvPr/>
          </p:nvCxnSpPr>
          <p:spPr>
            <a:xfrm rot="10800000">
              <a:off x="6058409" y="2938958"/>
              <a:ext cx="0" cy="554700"/>
            </a:xfrm>
            <a:prstGeom prst="straightConnector1">
              <a:avLst/>
            </a:prstGeom>
            <a:noFill/>
            <a:ln cap="flat" cmpd="sng" w="9525">
              <a:solidFill>
                <a:schemeClr val="dk2"/>
              </a:solidFill>
              <a:prstDash val="solid"/>
              <a:round/>
              <a:headEnd len="sm" w="sm" type="none"/>
              <a:tailEnd len="sm" w="sm" type="none"/>
            </a:ln>
          </p:spPr>
        </p:cxnSp>
        <p:sp>
          <p:nvSpPr>
            <p:cNvPr id="162" name="Google Shape;162;p21"/>
            <p:cNvSpPr/>
            <p:nvPr/>
          </p:nvSpPr>
          <p:spPr>
            <a:xfrm flipH="1" rot="10800000">
              <a:off x="5958946" y="3333714"/>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3" name="Google Shape;163;p21"/>
          <p:cNvSpPr txBox="1"/>
          <p:nvPr>
            <p:ph idx="4294967295" type="body"/>
          </p:nvPr>
        </p:nvSpPr>
        <p:spPr>
          <a:xfrm>
            <a:off x="5126902" y="3757725"/>
            <a:ext cx="2242800" cy="9063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n" sz="1500">
                <a:latin typeface="Times New Roman"/>
                <a:ea typeface="Times New Roman"/>
                <a:cs typeface="Times New Roman"/>
                <a:sym typeface="Times New Roman"/>
              </a:rPr>
              <a:t>Final case report + IOC list + recommendations + demo.</a:t>
            </a:r>
            <a:endParaRPr sz="2100">
              <a:latin typeface="Times New Roman"/>
              <a:ea typeface="Times New Roman"/>
              <a:cs typeface="Times New Roman"/>
              <a:sym typeface="Times New Roman"/>
            </a:endParaRPr>
          </a:p>
        </p:txBody>
      </p:sp>
      <p:sp>
        <p:nvSpPr>
          <p:cNvPr id="164" name="Google Shape;164;p21"/>
          <p:cNvSpPr/>
          <p:nvPr/>
        </p:nvSpPr>
        <p:spPr>
          <a:xfrm>
            <a:off x="6781813" y="2199000"/>
            <a:ext cx="2051100" cy="745500"/>
          </a:xfrm>
          <a:prstGeom prst="chevron">
            <a:avLst>
              <a:gd fmla="val 50000" name="adj"/>
            </a:avLst>
          </a:prstGeom>
          <a:solidFill>
            <a:schemeClr val="dk1"/>
          </a:solidFill>
          <a:ln cap="flat" cmpd="sng" w="9525">
            <a:solidFill>
              <a:schemeClr val="lt1"/>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5" name="Google Shape;165;p21"/>
          <p:cNvSpPr txBox="1"/>
          <p:nvPr>
            <p:ph idx="4294967295" type="body"/>
          </p:nvPr>
        </p:nvSpPr>
        <p:spPr>
          <a:xfrm>
            <a:off x="7111512" y="2336550"/>
            <a:ext cx="1315500" cy="470400"/>
          </a:xfrm>
          <a:prstGeom prst="rect">
            <a:avLst/>
          </a:prstGeom>
        </p:spPr>
        <p:txBody>
          <a:bodyPr anchorCtr="0" anchor="ctr" bIns="91425" lIns="91425" spcFirstLastPara="1" rIns="91425" wrap="square" tIns="91425">
            <a:normAutofit/>
          </a:bodyPr>
          <a:lstStyle/>
          <a:p>
            <a:pPr indent="0" lvl="0" marL="0" rtl="0" algn="ctr">
              <a:lnSpc>
                <a:spcPct val="100000"/>
              </a:lnSpc>
              <a:spcBef>
                <a:spcPts val="0"/>
              </a:spcBef>
              <a:spcAft>
                <a:spcPts val="0"/>
              </a:spcAft>
              <a:buNone/>
            </a:pPr>
            <a:r>
              <a:rPr lang="en">
                <a:solidFill>
                  <a:schemeClr val="lt1"/>
                </a:solidFill>
              </a:rPr>
              <a:t>M5</a:t>
            </a:r>
            <a:endParaRPr>
              <a:solidFill>
                <a:schemeClr val="lt1"/>
              </a:solidFill>
            </a:endParaRPr>
          </a:p>
        </p:txBody>
      </p:sp>
      <p:grpSp>
        <p:nvGrpSpPr>
          <p:cNvPr id="166" name="Google Shape;166;p21"/>
          <p:cNvGrpSpPr/>
          <p:nvPr/>
        </p:nvGrpSpPr>
        <p:grpSpPr>
          <a:xfrm>
            <a:off x="7669807" y="1610215"/>
            <a:ext cx="198900" cy="593656"/>
            <a:chOff x="3918084" y="1610215"/>
            <a:chExt cx="198900" cy="593656"/>
          </a:xfrm>
        </p:grpSpPr>
        <p:cxnSp>
          <p:nvCxnSpPr>
            <p:cNvPr id="167" name="Google Shape;167;p21"/>
            <p:cNvCxnSpPr/>
            <p:nvPr/>
          </p:nvCxnSpPr>
          <p:spPr>
            <a:xfrm>
              <a:off x="4017546" y="1649171"/>
              <a:ext cx="0" cy="554700"/>
            </a:xfrm>
            <a:prstGeom prst="straightConnector1">
              <a:avLst/>
            </a:prstGeom>
            <a:noFill/>
            <a:ln cap="flat" cmpd="sng" w="9525">
              <a:solidFill>
                <a:schemeClr val="dk2"/>
              </a:solidFill>
              <a:prstDash val="solid"/>
              <a:round/>
              <a:headEnd len="sm" w="sm" type="none"/>
              <a:tailEnd len="sm" w="sm" type="none"/>
            </a:ln>
          </p:spPr>
        </p:cxnSp>
        <p:sp>
          <p:nvSpPr>
            <p:cNvPr id="168" name="Google Shape;168;p21"/>
            <p:cNvSpPr/>
            <p:nvPr/>
          </p:nvSpPr>
          <p:spPr>
            <a:xfrm>
              <a:off x="3918084" y="1610215"/>
              <a:ext cx="198900" cy="19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21"/>
          <p:cNvSpPr txBox="1"/>
          <p:nvPr>
            <p:ph idx="4294967295" type="body"/>
          </p:nvPr>
        </p:nvSpPr>
        <p:spPr>
          <a:xfrm>
            <a:off x="6963325" y="883850"/>
            <a:ext cx="1688100" cy="593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852"/>
              <a:buNone/>
            </a:pPr>
            <a:r>
              <a:rPr lang="en">
                <a:latin typeface="Times New Roman"/>
                <a:ea typeface="Times New Roman"/>
                <a:cs typeface="Times New Roman"/>
                <a:sym typeface="Times New Roman"/>
              </a:rPr>
              <a:t>Future work</a:t>
            </a:r>
            <a:endParaRPr>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ph type="title"/>
          </p:nvPr>
        </p:nvSpPr>
        <p:spPr>
          <a:xfrm>
            <a:off x="200925" y="27575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Initial</a:t>
            </a:r>
            <a:r>
              <a:rPr lang="en">
                <a:latin typeface="Times New Roman"/>
                <a:ea typeface="Times New Roman"/>
                <a:cs typeface="Times New Roman"/>
                <a:sym typeface="Times New Roman"/>
              </a:rPr>
              <a:t> Attack</a:t>
            </a:r>
            <a:endParaRPr>
              <a:latin typeface="Times New Roman"/>
              <a:ea typeface="Times New Roman"/>
              <a:cs typeface="Times New Roman"/>
              <a:sym typeface="Times New Roman"/>
            </a:endParaRPr>
          </a:p>
        </p:txBody>
      </p:sp>
      <p:sp>
        <p:nvSpPr>
          <p:cNvPr id="175" name="Google Shape;175;p22"/>
          <p:cNvSpPr txBox="1"/>
          <p:nvPr/>
        </p:nvSpPr>
        <p:spPr>
          <a:xfrm>
            <a:off x="545850" y="1272600"/>
            <a:ext cx="8175600" cy="3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76" name="Google Shape;176;p22"/>
          <p:cNvSpPr txBox="1"/>
          <p:nvPr/>
        </p:nvSpPr>
        <p:spPr>
          <a:xfrm>
            <a:off x="461325" y="1345050"/>
            <a:ext cx="8125800" cy="348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dk1"/>
                </a:solidFill>
                <a:highlight>
                  <a:srgbClr val="FFFFFF"/>
                </a:highlight>
                <a:latin typeface="Times New Roman"/>
                <a:ea typeface="Times New Roman"/>
                <a:cs typeface="Times New Roman"/>
                <a:sym typeface="Times New Roman"/>
              </a:rPr>
              <a:t>The email was first sent to an employee on May 3</a:t>
            </a:r>
            <a:r>
              <a:rPr baseline="30000" lang="en" sz="1900">
                <a:solidFill>
                  <a:schemeClr val="dk1"/>
                </a:solidFill>
                <a:highlight>
                  <a:srgbClr val="FFFFFF"/>
                </a:highlight>
                <a:latin typeface="Times New Roman"/>
                <a:ea typeface="Times New Roman"/>
                <a:cs typeface="Times New Roman"/>
                <a:sym typeface="Times New Roman"/>
              </a:rPr>
              <a:t>rd,</a:t>
            </a:r>
            <a:r>
              <a:rPr lang="en" sz="1500">
                <a:solidFill>
                  <a:schemeClr val="dk1"/>
                </a:solidFill>
                <a:highlight>
                  <a:srgbClr val="FFFFFF"/>
                </a:highlight>
                <a:latin typeface="Times New Roman"/>
                <a:ea typeface="Times New Roman"/>
                <a:cs typeface="Times New Roman"/>
                <a:sym typeface="Times New Roman"/>
              </a:rPr>
              <a:t> which was an excel sheet with the macros for URSNIF. On May 14</a:t>
            </a:r>
            <a:r>
              <a:rPr baseline="30000" lang="en" sz="1900">
                <a:solidFill>
                  <a:schemeClr val="dk1"/>
                </a:solidFill>
                <a:highlight>
                  <a:srgbClr val="FFFFFF"/>
                </a:highlight>
                <a:latin typeface="Times New Roman"/>
                <a:ea typeface="Times New Roman"/>
                <a:cs typeface="Times New Roman"/>
                <a:sym typeface="Times New Roman"/>
              </a:rPr>
              <a:t>th</a:t>
            </a:r>
            <a:r>
              <a:rPr lang="en" sz="1500">
                <a:solidFill>
                  <a:schemeClr val="dk1"/>
                </a:solidFill>
                <a:highlight>
                  <a:srgbClr val="FFFFFF"/>
                </a:highlight>
                <a:latin typeface="Times New Roman"/>
                <a:ea typeface="Times New Roman"/>
                <a:cs typeface="Times New Roman"/>
                <a:sym typeface="Times New Roman"/>
              </a:rPr>
              <a:t> another email was sent, that was similar in nature. URSNIF is more commonly referred to as a banking trojan. Originally identified in 2006, there was a GitHub leak of the source code for this trojan.  Trojan Path is as follows:</a:t>
            </a:r>
            <a:endParaRPr sz="1500">
              <a:solidFill>
                <a:schemeClr val="dk1"/>
              </a:solidFill>
              <a:highlight>
                <a:srgbClr val="FFFFFF"/>
              </a:highlight>
              <a:latin typeface="Times New Roman"/>
              <a:ea typeface="Times New Roman"/>
              <a:cs typeface="Times New Roman"/>
              <a:sym typeface="Times New Roman"/>
            </a:endParaRPr>
          </a:p>
          <a:p>
            <a:pPr indent="0" lvl="0" marL="0" rtl="0" algn="l">
              <a:spcBef>
                <a:spcPts val="0"/>
              </a:spcBef>
              <a:spcAft>
                <a:spcPts val="0"/>
              </a:spcAft>
              <a:buNone/>
            </a:pPr>
            <a:r>
              <a:t/>
            </a:r>
            <a:endParaRPr b="1" sz="1200">
              <a:solidFill>
                <a:schemeClr val="dk1"/>
              </a:solidFill>
              <a:highlight>
                <a:srgbClr val="FFFFFF"/>
              </a:highlight>
              <a:latin typeface="Times New Roman"/>
              <a:ea typeface="Times New Roman"/>
              <a:cs typeface="Times New Roman"/>
              <a:sym typeface="Times New Roman"/>
            </a:endParaRPr>
          </a:p>
        </p:txBody>
      </p:sp>
      <p:pic>
        <p:nvPicPr>
          <p:cNvPr id="177" name="Google Shape;177;p22"/>
          <p:cNvPicPr preferRelativeResize="0"/>
          <p:nvPr/>
        </p:nvPicPr>
        <p:blipFill>
          <a:blip r:embed="rId3">
            <a:alphaModFix/>
          </a:blip>
          <a:stretch>
            <a:fillRect/>
          </a:stretch>
        </p:blipFill>
        <p:spPr>
          <a:xfrm>
            <a:off x="1323975" y="2736225"/>
            <a:ext cx="6496051" cy="10488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Wireshark Analysis of Pcap file</a:t>
            </a:r>
            <a:r>
              <a:rPr lang="en"/>
              <a:t> </a:t>
            </a:r>
            <a:endParaRPr/>
          </a:p>
        </p:txBody>
      </p:sp>
      <p:pic>
        <p:nvPicPr>
          <p:cNvPr id="183" name="Google Shape;183;p23"/>
          <p:cNvPicPr preferRelativeResize="0"/>
          <p:nvPr/>
        </p:nvPicPr>
        <p:blipFill>
          <a:blip r:embed="rId3">
            <a:alphaModFix/>
          </a:blip>
          <a:stretch>
            <a:fillRect/>
          </a:stretch>
        </p:blipFill>
        <p:spPr>
          <a:xfrm>
            <a:off x="1097675" y="1147225"/>
            <a:ext cx="6948658" cy="36914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Wireshark Analysis of Pcap File</a:t>
            </a:r>
            <a:endParaRPr>
              <a:latin typeface="Times New Roman"/>
              <a:ea typeface="Times New Roman"/>
              <a:cs typeface="Times New Roman"/>
              <a:sym typeface="Times New Roman"/>
            </a:endParaRPr>
          </a:p>
        </p:txBody>
      </p:sp>
      <p:pic>
        <p:nvPicPr>
          <p:cNvPr id="189" name="Google Shape;189;p24"/>
          <p:cNvPicPr preferRelativeResize="0"/>
          <p:nvPr/>
        </p:nvPicPr>
        <p:blipFill>
          <a:blip r:embed="rId3">
            <a:alphaModFix/>
          </a:blip>
          <a:stretch>
            <a:fillRect/>
          </a:stretch>
        </p:blipFill>
        <p:spPr>
          <a:xfrm>
            <a:off x="1637500" y="1147225"/>
            <a:ext cx="6043886" cy="36914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Wireshark Statistics (Filtered)</a:t>
            </a:r>
            <a:endParaRPr>
              <a:latin typeface="Times New Roman"/>
              <a:ea typeface="Times New Roman"/>
              <a:cs typeface="Times New Roman"/>
              <a:sym typeface="Times New Roman"/>
            </a:endParaRPr>
          </a:p>
        </p:txBody>
      </p:sp>
      <p:pic>
        <p:nvPicPr>
          <p:cNvPr id="195" name="Google Shape;195;p25"/>
          <p:cNvPicPr preferRelativeResize="0"/>
          <p:nvPr/>
        </p:nvPicPr>
        <p:blipFill>
          <a:blip r:embed="rId3">
            <a:alphaModFix/>
          </a:blip>
          <a:stretch>
            <a:fillRect/>
          </a:stretch>
        </p:blipFill>
        <p:spPr>
          <a:xfrm>
            <a:off x="599125" y="1147225"/>
            <a:ext cx="4594634" cy="3691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Original Phishing email</a:t>
            </a:r>
            <a:endParaRPr>
              <a:latin typeface="Times New Roman"/>
              <a:ea typeface="Times New Roman"/>
              <a:cs typeface="Times New Roman"/>
              <a:sym typeface="Times New Roman"/>
            </a:endParaRPr>
          </a:p>
        </p:txBody>
      </p:sp>
      <p:pic>
        <p:nvPicPr>
          <p:cNvPr id="201" name="Google Shape;201;p26"/>
          <p:cNvPicPr preferRelativeResize="0"/>
          <p:nvPr/>
        </p:nvPicPr>
        <p:blipFill>
          <a:blip r:embed="rId3">
            <a:alphaModFix/>
          </a:blip>
          <a:stretch>
            <a:fillRect/>
          </a:stretch>
        </p:blipFill>
        <p:spPr>
          <a:xfrm>
            <a:off x="1097675" y="1147225"/>
            <a:ext cx="6948658" cy="36914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Ursnif, the banking trojan</a:t>
            </a:r>
            <a:endParaRPr>
              <a:latin typeface="Times New Roman"/>
              <a:ea typeface="Times New Roman"/>
              <a:cs typeface="Times New Roman"/>
              <a:sym typeface="Times New Roman"/>
            </a:endParaRPr>
          </a:p>
        </p:txBody>
      </p:sp>
      <p:sp>
        <p:nvSpPr>
          <p:cNvPr id="207" name="Google Shape;207;p27"/>
          <p:cNvSpPr txBox="1"/>
          <p:nvPr/>
        </p:nvSpPr>
        <p:spPr>
          <a:xfrm>
            <a:off x="630375" y="1260525"/>
            <a:ext cx="7992900" cy="363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Ursnif is a </a:t>
            </a:r>
            <a:r>
              <a:rPr lang="en" sz="1800">
                <a:solidFill>
                  <a:schemeClr val="dk1"/>
                </a:solidFill>
                <a:latin typeface="Open Sans"/>
                <a:ea typeface="Open Sans"/>
                <a:cs typeface="Open Sans"/>
                <a:sym typeface="Open Sans"/>
              </a:rPr>
              <a:t>variant</a:t>
            </a:r>
            <a:r>
              <a:rPr lang="en" sz="1800">
                <a:solidFill>
                  <a:schemeClr val="dk1"/>
                </a:solidFill>
                <a:latin typeface="Open Sans"/>
                <a:ea typeface="Open Sans"/>
                <a:cs typeface="Open Sans"/>
                <a:sym typeface="Open Sans"/>
              </a:rPr>
              <a:t> of the GOZI malware, usually </a:t>
            </a:r>
            <a:r>
              <a:rPr lang="en" sz="1800">
                <a:solidFill>
                  <a:schemeClr val="dk1"/>
                </a:solidFill>
                <a:latin typeface="Open Sans"/>
                <a:ea typeface="Open Sans"/>
                <a:cs typeface="Open Sans"/>
                <a:sym typeface="Open Sans"/>
              </a:rPr>
              <a:t>disguises</a:t>
            </a:r>
            <a:r>
              <a:rPr lang="en" sz="1800">
                <a:solidFill>
                  <a:schemeClr val="dk1"/>
                </a:solidFill>
                <a:latin typeface="Open Sans"/>
                <a:ea typeface="Open Sans"/>
                <a:cs typeface="Open Sans"/>
                <a:sym typeface="Open Sans"/>
              </a:rPr>
              <a:t> itself as a part of an invoice, was first seen in 2006, but had its script leaked in 2015, </a:t>
            </a:r>
            <a:r>
              <a:rPr lang="en" sz="1800">
                <a:solidFill>
                  <a:schemeClr val="dk1"/>
                </a:solidFill>
                <a:latin typeface="Open Sans"/>
                <a:ea typeface="Open Sans"/>
                <a:cs typeface="Open Sans"/>
                <a:sym typeface="Open Sans"/>
              </a:rPr>
              <a:t>making</a:t>
            </a:r>
            <a:r>
              <a:rPr lang="en" sz="1800">
                <a:solidFill>
                  <a:schemeClr val="dk1"/>
                </a:solidFill>
                <a:latin typeface="Open Sans"/>
                <a:ea typeface="Open Sans"/>
                <a:cs typeface="Open Sans"/>
                <a:sym typeface="Open Sans"/>
              </a:rPr>
              <a:t> it more </a:t>
            </a:r>
            <a:r>
              <a:rPr lang="en" sz="1800">
                <a:solidFill>
                  <a:schemeClr val="dk1"/>
                </a:solidFill>
                <a:latin typeface="Open Sans"/>
                <a:ea typeface="Open Sans"/>
                <a:cs typeface="Open Sans"/>
                <a:sym typeface="Open Sans"/>
              </a:rPr>
              <a:t>accessible</a:t>
            </a:r>
            <a:r>
              <a:rPr lang="en" sz="1800">
                <a:solidFill>
                  <a:schemeClr val="dk1"/>
                </a:solidFill>
                <a:latin typeface="Open Sans"/>
                <a:ea typeface="Open Sans"/>
                <a:cs typeface="Open Sans"/>
                <a:sym typeface="Open Sans"/>
              </a:rPr>
              <a:t> to other. So now it has a github: </a:t>
            </a:r>
            <a:endParaRPr sz="1800">
              <a:solidFill>
                <a:schemeClr val="dk1"/>
              </a:solidFill>
              <a:latin typeface="Open Sans"/>
              <a:ea typeface="Open Sans"/>
              <a:cs typeface="Open Sans"/>
              <a:sym typeface="Open Sans"/>
            </a:endParaRPr>
          </a:p>
          <a:p>
            <a:pPr indent="-342900" lvl="0" marL="457200" rtl="0" algn="l">
              <a:spcBef>
                <a:spcPts val="0"/>
              </a:spcBef>
              <a:spcAft>
                <a:spcPts val="0"/>
              </a:spcAft>
              <a:buClr>
                <a:schemeClr val="dk1"/>
              </a:buClr>
              <a:buSzPts val="1800"/>
              <a:buFont typeface="Open Sans"/>
              <a:buChar char="-"/>
            </a:pPr>
            <a:r>
              <a:rPr lang="en" sz="1800" u="sng">
                <a:solidFill>
                  <a:schemeClr val="hlink"/>
                </a:solidFill>
                <a:latin typeface="Open Sans"/>
                <a:ea typeface="Open Sans"/>
                <a:cs typeface="Open Sans"/>
                <a:sym typeface="Open Sans"/>
                <a:hlinkClick r:id="rId3"/>
              </a:rPr>
              <a:t>https://github.com/MBCProject/mbc-markdown/blob/main/xample-malware/ursnif.md</a:t>
            </a:r>
            <a:r>
              <a:rPr lang="en" sz="1800">
                <a:solidFill>
                  <a:schemeClr val="dk1"/>
                </a:solidFill>
                <a:latin typeface="Open Sans"/>
                <a:ea typeface="Open Sans"/>
                <a:cs typeface="Open Sans"/>
                <a:sym typeface="Open Sans"/>
              </a:rPr>
              <a:t> </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pic>
        <p:nvPicPr>
          <p:cNvPr id="208" name="Google Shape;208;p27"/>
          <p:cNvPicPr preferRelativeResize="0"/>
          <p:nvPr/>
        </p:nvPicPr>
        <p:blipFill>
          <a:blip r:embed="rId4">
            <a:alphaModFix/>
          </a:blip>
          <a:stretch>
            <a:fillRect/>
          </a:stretch>
        </p:blipFill>
        <p:spPr>
          <a:xfrm>
            <a:off x="985838" y="3367150"/>
            <a:ext cx="7172325" cy="1162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8"/>
          <p:cNvSpPr txBox="1"/>
          <p:nvPr>
            <p:ph type="title"/>
          </p:nvPr>
        </p:nvSpPr>
        <p:spPr>
          <a:xfrm>
            <a:off x="265500" y="929275"/>
            <a:ext cx="4045200" cy="1786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26190"/>
              <a:buFont typeface="Arial"/>
              <a:buNone/>
            </a:pPr>
            <a:r>
              <a:rPr lang="en">
                <a:solidFill>
                  <a:schemeClr val="dk1"/>
                </a:solidFill>
                <a:latin typeface="Times New Roman"/>
                <a:ea typeface="Times New Roman"/>
                <a:cs typeface="Times New Roman"/>
                <a:sym typeface="Times New Roman"/>
              </a:rPr>
              <a:t>Milestone 1 - Security Onion, Baseline &amp; capture</a:t>
            </a:r>
            <a:endParaRPr/>
          </a:p>
        </p:txBody>
      </p:sp>
      <p:sp>
        <p:nvSpPr>
          <p:cNvPr id="214" name="Google Shape;214;p28"/>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215" name="Google Shape;215;p28"/>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74650" lvl="0" marL="457200" marR="38100" rtl="0" algn="l">
              <a:lnSpc>
                <a:spcPct val="128571"/>
              </a:lnSpc>
              <a:spcBef>
                <a:spcPts val="0"/>
              </a:spcBef>
              <a:spcAft>
                <a:spcPts val="0"/>
              </a:spcAft>
              <a:buClr>
                <a:srgbClr val="1F1F1F"/>
              </a:buClr>
              <a:buSzPts val="2300"/>
              <a:buFont typeface="Times New Roman"/>
              <a:buChar char="●"/>
            </a:pPr>
            <a:r>
              <a:rPr lang="en" sz="2300">
                <a:solidFill>
                  <a:srgbClr val="1F1F1F"/>
                </a:solidFill>
                <a:latin typeface="Times New Roman"/>
                <a:ea typeface="Times New Roman"/>
                <a:cs typeface="Times New Roman"/>
                <a:sym typeface="Times New Roman"/>
              </a:rPr>
              <a:t>Environment online	</a:t>
            </a:r>
            <a:endParaRPr sz="2300">
              <a:solidFill>
                <a:srgbClr val="1F1F1F"/>
              </a:solidFill>
              <a:latin typeface="Times New Roman"/>
              <a:ea typeface="Times New Roman"/>
              <a:cs typeface="Times New Roman"/>
              <a:sym typeface="Times New Roman"/>
            </a:endParaRPr>
          </a:p>
          <a:p>
            <a:pPr indent="-374650" lvl="1" marL="914400" marR="38100" rtl="0" algn="l">
              <a:lnSpc>
                <a:spcPct val="128571"/>
              </a:lnSpc>
              <a:spcBef>
                <a:spcPts val="0"/>
              </a:spcBef>
              <a:spcAft>
                <a:spcPts val="0"/>
              </a:spcAft>
              <a:buClr>
                <a:srgbClr val="1F1F1F"/>
              </a:buClr>
              <a:buSzPts val="2300"/>
              <a:buFont typeface="Times New Roman"/>
              <a:buChar char="○"/>
            </a:pPr>
            <a:r>
              <a:rPr lang="en" sz="2300">
                <a:solidFill>
                  <a:srgbClr val="1F1F1F"/>
                </a:solidFill>
                <a:latin typeface="Times New Roman"/>
                <a:ea typeface="Times New Roman"/>
                <a:cs typeface="Times New Roman"/>
                <a:sym typeface="Times New Roman"/>
              </a:rPr>
              <a:t>Security Onion</a:t>
            </a:r>
            <a:endParaRPr sz="2300">
              <a:solidFill>
                <a:srgbClr val="1F1F1F"/>
              </a:solidFill>
              <a:latin typeface="Times New Roman"/>
              <a:ea typeface="Times New Roman"/>
              <a:cs typeface="Times New Roman"/>
              <a:sym typeface="Times New Roman"/>
            </a:endParaRPr>
          </a:p>
          <a:p>
            <a:pPr indent="-374650" lvl="1" marL="914400" marR="38100" rtl="0" algn="l">
              <a:lnSpc>
                <a:spcPct val="128571"/>
              </a:lnSpc>
              <a:spcBef>
                <a:spcPts val="0"/>
              </a:spcBef>
              <a:spcAft>
                <a:spcPts val="0"/>
              </a:spcAft>
              <a:buClr>
                <a:srgbClr val="1F1F1F"/>
              </a:buClr>
              <a:buSzPts val="2300"/>
              <a:buFont typeface="Times New Roman"/>
              <a:buChar char="○"/>
            </a:pPr>
            <a:r>
              <a:rPr lang="en" sz="2300">
                <a:solidFill>
                  <a:srgbClr val="1F1F1F"/>
                </a:solidFill>
                <a:latin typeface="Times New Roman"/>
                <a:ea typeface="Times New Roman"/>
                <a:cs typeface="Times New Roman"/>
                <a:sym typeface="Times New Roman"/>
              </a:rPr>
              <a:t>Kali</a:t>
            </a:r>
            <a:endParaRPr sz="2300">
              <a:solidFill>
                <a:srgbClr val="1F1F1F"/>
              </a:solidFill>
              <a:latin typeface="Times New Roman"/>
              <a:ea typeface="Times New Roman"/>
              <a:cs typeface="Times New Roman"/>
              <a:sym typeface="Times New Roman"/>
            </a:endParaRPr>
          </a:p>
          <a:p>
            <a:pPr indent="-374650" lvl="0" marL="457200" marR="38100" rtl="0" algn="l">
              <a:lnSpc>
                <a:spcPct val="128571"/>
              </a:lnSpc>
              <a:spcBef>
                <a:spcPts val="0"/>
              </a:spcBef>
              <a:spcAft>
                <a:spcPts val="0"/>
              </a:spcAft>
              <a:buClr>
                <a:srgbClr val="1F1F1F"/>
              </a:buClr>
              <a:buSzPts val="2300"/>
              <a:buFont typeface="Times New Roman"/>
              <a:buChar char="●"/>
            </a:pPr>
            <a:r>
              <a:rPr lang="en" sz="2300">
                <a:solidFill>
                  <a:srgbClr val="1F1F1F"/>
                </a:solidFill>
                <a:latin typeface="Times New Roman"/>
                <a:ea typeface="Times New Roman"/>
                <a:cs typeface="Times New Roman"/>
                <a:sym typeface="Times New Roman"/>
              </a:rPr>
              <a:t>Monitor using SO</a:t>
            </a:r>
            <a:endParaRPr sz="2300">
              <a:solidFill>
                <a:srgbClr val="1F1F1F"/>
              </a:solidFill>
              <a:latin typeface="Times New Roman"/>
              <a:ea typeface="Times New Roman"/>
              <a:cs typeface="Times New Roman"/>
              <a:sym typeface="Times New Roman"/>
            </a:endParaRPr>
          </a:p>
          <a:p>
            <a:pPr indent="-374650" lvl="0" marL="457200" marR="38100" rtl="0" algn="l">
              <a:lnSpc>
                <a:spcPct val="128571"/>
              </a:lnSpc>
              <a:spcBef>
                <a:spcPts val="0"/>
              </a:spcBef>
              <a:spcAft>
                <a:spcPts val="0"/>
              </a:spcAft>
              <a:buClr>
                <a:srgbClr val="1F1F1F"/>
              </a:buClr>
              <a:buSzPts val="2300"/>
              <a:buFont typeface="Times New Roman"/>
              <a:buChar char="●"/>
            </a:pPr>
            <a:r>
              <a:rPr lang="en" sz="2300">
                <a:solidFill>
                  <a:srgbClr val="1F1F1F"/>
                </a:solidFill>
                <a:latin typeface="Times New Roman"/>
                <a:ea typeface="Times New Roman"/>
                <a:cs typeface="Times New Roman"/>
                <a:sym typeface="Times New Roman"/>
              </a:rPr>
              <a:t>Gathering baseline traffic</a:t>
            </a:r>
            <a:endParaRPr sz="2300">
              <a:solidFill>
                <a:srgbClr val="1F1F1F"/>
              </a:solidFill>
              <a:latin typeface="Times New Roman"/>
              <a:ea typeface="Times New Roman"/>
              <a:cs typeface="Times New Roman"/>
              <a:sym typeface="Times New Roman"/>
            </a:endParaRPr>
          </a:p>
          <a:p>
            <a:pPr indent="-374650" lvl="0" marL="457200" marR="38100" rtl="0" algn="l">
              <a:lnSpc>
                <a:spcPct val="128571"/>
              </a:lnSpc>
              <a:spcBef>
                <a:spcPts val="0"/>
              </a:spcBef>
              <a:spcAft>
                <a:spcPts val="0"/>
              </a:spcAft>
              <a:buClr>
                <a:srgbClr val="1F1F1F"/>
              </a:buClr>
              <a:buSzPts val="2300"/>
              <a:buFont typeface="Times New Roman"/>
              <a:buChar char="●"/>
            </a:pPr>
            <a:r>
              <a:rPr lang="en" sz="2300">
                <a:solidFill>
                  <a:srgbClr val="1F1F1F"/>
                </a:solidFill>
                <a:latin typeface="Times New Roman"/>
                <a:ea typeface="Times New Roman"/>
                <a:cs typeface="Times New Roman"/>
                <a:sym typeface="Times New Roman"/>
              </a:rPr>
              <a:t>Capture Filters</a:t>
            </a:r>
            <a:endParaRPr sz="2300"/>
          </a:p>
        </p:txBody>
      </p:sp>
      <p:pic>
        <p:nvPicPr>
          <p:cNvPr id="216" name="Google Shape;216;p28" title="download.png"/>
          <p:cNvPicPr preferRelativeResize="0"/>
          <p:nvPr/>
        </p:nvPicPr>
        <p:blipFill>
          <a:blip r:embed="rId3">
            <a:alphaModFix/>
          </a:blip>
          <a:stretch>
            <a:fillRect/>
          </a:stretch>
        </p:blipFill>
        <p:spPr>
          <a:xfrm>
            <a:off x="253950" y="2769001"/>
            <a:ext cx="4068300" cy="2119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9"/>
          <p:cNvSpPr txBox="1"/>
          <p:nvPr>
            <p:ph type="title"/>
          </p:nvPr>
        </p:nvSpPr>
        <p:spPr>
          <a:xfrm>
            <a:off x="265500" y="929275"/>
            <a:ext cx="4045200" cy="1786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M1 – Environment online and monitoring</a:t>
            </a:r>
            <a:endParaRPr>
              <a:solidFill>
                <a:schemeClr val="dk1"/>
              </a:solidFill>
              <a:latin typeface="Times New Roman"/>
              <a:ea typeface="Times New Roman"/>
              <a:cs typeface="Times New Roman"/>
              <a:sym typeface="Times New Roman"/>
            </a:endParaRPr>
          </a:p>
        </p:txBody>
      </p:sp>
      <p:sp>
        <p:nvSpPr>
          <p:cNvPr id="222" name="Google Shape;222;p2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NIC/bridge configuration in Security Onion. See Figure 1.</a:t>
            </a:r>
            <a:br>
              <a:rPr lang="en">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Font typeface="Times New Roman"/>
              <a:buChar char="-"/>
            </a:pPr>
            <a:r>
              <a:rPr lang="en">
                <a:solidFill>
                  <a:schemeClr val="dk1"/>
                </a:solidFill>
                <a:latin typeface="Times New Roman"/>
                <a:ea typeface="Times New Roman"/>
                <a:cs typeface="Times New Roman"/>
                <a:sym typeface="Times New Roman"/>
              </a:rPr>
              <a:t>Confirmed the sensor was actually seeing traffic from the lab network. See Figure 2.</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0"/>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M1-Figure 1</a:t>
            </a:r>
            <a:endParaRPr>
              <a:latin typeface="Times New Roman"/>
              <a:ea typeface="Times New Roman"/>
              <a:cs typeface="Times New Roman"/>
              <a:sym typeface="Times New Roman"/>
            </a:endParaRPr>
          </a:p>
        </p:txBody>
      </p:sp>
      <p:pic>
        <p:nvPicPr>
          <p:cNvPr id="228" name="Google Shape;228;p30" title="tcpdump proof.png"/>
          <p:cNvPicPr preferRelativeResize="0"/>
          <p:nvPr/>
        </p:nvPicPr>
        <p:blipFill>
          <a:blip r:embed="rId3">
            <a:alphaModFix/>
          </a:blip>
          <a:stretch>
            <a:fillRect/>
          </a:stretch>
        </p:blipFill>
        <p:spPr>
          <a:xfrm>
            <a:off x="1207374" y="1523300"/>
            <a:ext cx="6312701" cy="2503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M1- Figure 2</a:t>
            </a:r>
            <a:endParaRPr>
              <a:latin typeface="Times New Roman"/>
              <a:ea typeface="Times New Roman"/>
              <a:cs typeface="Times New Roman"/>
              <a:sym typeface="Times New Roman"/>
            </a:endParaRPr>
          </a:p>
        </p:txBody>
      </p:sp>
      <p:pic>
        <p:nvPicPr>
          <p:cNvPr id="234" name="Google Shape;234;p31" title="bond0proof.png"/>
          <p:cNvPicPr preferRelativeResize="0"/>
          <p:nvPr/>
        </p:nvPicPr>
        <p:blipFill>
          <a:blip r:embed="rId3">
            <a:alphaModFix/>
          </a:blip>
          <a:stretch>
            <a:fillRect/>
          </a:stretch>
        </p:blipFill>
        <p:spPr>
          <a:xfrm>
            <a:off x="1185863" y="1599923"/>
            <a:ext cx="6772275" cy="297930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311700" y="328000"/>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M1 – Baseline traffic + capture filters</a:t>
            </a:r>
            <a:endParaRPr>
              <a:latin typeface="Times New Roman"/>
              <a:ea typeface="Times New Roman"/>
              <a:cs typeface="Times New Roman"/>
              <a:sym typeface="Times New Roman"/>
            </a:endParaRPr>
          </a:p>
        </p:txBody>
      </p:sp>
      <p:sp>
        <p:nvSpPr>
          <p:cNvPr id="240" name="Google Shape;240;p32"/>
          <p:cNvSpPr txBox="1"/>
          <p:nvPr>
            <p:ph idx="1" type="body"/>
          </p:nvPr>
        </p:nvSpPr>
        <p:spPr>
          <a:xfrm>
            <a:off x="311700" y="1225225"/>
            <a:ext cx="3999900" cy="3354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Collected baseline traffic (normal browsing / no attacks).</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Documented capture filter used (e.g. “only monitor relevant lab subnet and necessary ports”).</a:t>
            </a:r>
            <a:endParaRPr sz="18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pic>
        <p:nvPicPr>
          <p:cNvPr id="241" name="Google Shape;241;p32" title="hunt-initial-logs.png"/>
          <p:cNvPicPr preferRelativeResize="0"/>
          <p:nvPr/>
        </p:nvPicPr>
        <p:blipFill>
          <a:blip r:embed="rId3">
            <a:alphaModFix/>
          </a:blip>
          <a:stretch>
            <a:fillRect/>
          </a:stretch>
        </p:blipFill>
        <p:spPr>
          <a:xfrm>
            <a:off x="4634072" y="1922592"/>
            <a:ext cx="4353204" cy="19592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3"/>
          <p:cNvSpPr txBox="1"/>
          <p:nvPr>
            <p:ph type="title"/>
          </p:nvPr>
        </p:nvSpPr>
        <p:spPr>
          <a:xfrm>
            <a:off x="309238" y="664450"/>
            <a:ext cx="4045200" cy="1786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Milestone 2 - </a:t>
            </a:r>
            <a:r>
              <a:rPr lang="en">
                <a:solidFill>
                  <a:schemeClr val="dk1"/>
                </a:solidFill>
                <a:latin typeface="Times New Roman"/>
                <a:ea typeface="Times New Roman"/>
                <a:cs typeface="Times New Roman"/>
                <a:sym typeface="Times New Roman"/>
              </a:rPr>
              <a:t>Rules + Zeek validation</a:t>
            </a:r>
            <a:endParaRPr>
              <a:solidFill>
                <a:schemeClr val="dk1"/>
              </a:solidFill>
              <a:latin typeface="Times New Roman"/>
              <a:ea typeface="Times New Roman"/>
              <a:cs typeface="Times New Roman"/>
              <a:sym typeface="Times New Roman"/>
            </a:endParaRPr>
          </a:p>
        </p:txBody>
      </p:sp>
      <p:pic>
        <p:nvPicPr>
          <p:cNvPr id="247" name="Google Shape;247;p33" title="zeek-logo-blue-black-rgb-horizontal.png"/>
          <p:cNvPicPr preferRelativeResize="0"/>
          <p:nvPr/>
        </p:nvPicPr>
        <p:blipFill>
          <a:blip r:embed="rId3">
            <a:alphaModFix/>
          </a:blip>
          <a:stretch>
            <a:fillRect/>
          </a:stretch>
        </p:blipFill>
        <p:spPr>
          <a:xfrm>
            <a:off x="320975" y="3187500"/>
            <a:ext cx="4021725" cy="1330825"/>
          </a:xfrm>
          <a:prstGeom prst="rect">
            <a:avLst/>
          </a:prstGeom>
          <a:noFill/>
          <a:ln>
            <a:noFill/>
          </a:ln>
        </p:spPr>
      </p:pic>
      <p:sp>
        <p:nvSpPr>
          <p:cNvPr id="248" name="Google Shape;248;p3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81000" lvl="0" marL="457200" marR="38100" rtl="0" algn="l">
              <a:lnSpc>
                <a:spcPct val="128571"/>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Configure Suricata</a:t>
            </a:r>
            <a:endParaRPr sz="2400">
              <a:solidFill>
                <a:srgbClr val="1F1F1F"/>
              </a:solidFill>
              <a:latin typeface="Times New Roman"/>
              <a:ea typeface="Times New Roman"/>
              <a:cs typeface="Times New Roman"/>
              <a:sym typeface="Times New Roman"/>
            </a:endParaRPr>
          </a:p>
          <a:p>
            <a:pPr indent="-381000" lvl="0" marL="457200" marR="38100" rtl="0" algn="l">
              <a:lnSpc>
                <a:spcPct val="128571"/>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Configure Zeek</a:t>
            </a:r>
            <a:endParaRPr sz="2400">
              <a:solidFill>
                <a:srgbClr val="1F1F1F"/>
              </a:solidFill>
              <a:latin typeface="Times New Roman"/>
              <a:ea typeface="Times New Roman"/>
              <a:cs typeface="Times New Roman"/>
              <a:sym typeface="Times New Roman"/>
            </a:endParaRPr>
          </a:p>
          <a:p>
            <a:pPr indent="-381000" lvl="0" marL="457200" marR="38100" rtl="0" algn="l">
              <a:lnSpc>
                <a:spcPct val="128571"/>
              </a:lnSpc>
              <a:spcBef>
                <a:spcPts val="0"/>
              </a:spcBef>
              <a:spcAft>
                <a:spcPts val="0"/>
              </a:spcAft>
              <a:buClr>
                <a:srgbClr val="1F1F1F"/>
              </a:buClr>
              <a:buSzPts val="2400"/>
              <a:buFont typeface="Times New Roman"/>
              <a:buChar char="●"/>
            </a:pPr>
            <a:r>
              <a:rPr lang="en" sz="2400">
                <a:solidFill>
                  <a:srgbClr val="1F1F1F"/>
                </a:solidFill>
                <a:latin typeface="Times New Roman"/>
                <a:ea typeface="Times New Roman"/>
                <a:cs typeface="Times New Roman"/>
                <a:sym typeface="Times New Roman"/>
              </a:rPr>
              <a:t>Rule Packs</a:t>
            </a:r>
            <a:endParaRPr sz="2400">
              <a:solidFill>
                <a:srgbClr val="1F1F1F"/>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4"/>
          <p:cNvSpPr txBox="1"/>
          <p:nvPr>
            <p:ph type="title"/>
          </p:nvPr>
        </p:nvSpPr>
        <p:spPr>
          <a:xfrm>
            <a:off x="265500" y="929275"/>
            <a:ext cx="4045200" cy="17862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Clr>
                <a:schemeClr val="dk1"/>
              </a:buClr>
              <a:buSzPct val="26190"/>
              <a:buFont typeface="Arial"/>
              <a:buNone/>
            </a:pPr>
            <a:r>
              <a:rPr lang="en">
                <a:solidFill>
                  <a:schemeClr val="dk1"/>
                </a:solidFill>
                <a:latin typeface="Times New Roman"/>
                <a:ea typeface="Times New Roman"/>
                <a:cs typeface="Times New Roman"/>
                <a:sym typeface="Times New Roman"/>
              </a:rPr>
              <a:t>Milestone 2 - Rules + Zeek validation</a:t>
            </a:r>
            <a:endParaRPr/>
          </a:p>
        </p:txBody>
      </p:sp>
      <p:sp>
        <p:nvSpPr>
          <p:cNvPr id="254" name="Google Shape;254;p34"/>
          <p:cNvSpPr txBox="1"/>
          <p:nvPr>
            <p:ph idx="1" type="subTitle"/>
          </p:nvPr>
        </p:nvSpPr>
        <p:spPr>
          <a:xfrm>
            <a:off x="265500" y="2769001"/>
            <a:ext cx="4045200" cy="1574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
        <p:nvSpPr>
          <p:cNvPr id="255" name="Google Shape;255;p34"/>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Collected baseline traffic (normal browsing / no attacks).</a:t>
            </a:r>
            <a:br>
              <a:rPr lang="en" sz="2100">
                <a:solidFill>
                  <a:schemeClr val="dk1"/>
                </a:solidFill>
                <a:latin typeface="Times New Roman"/>
                <a:ea typeface="Times New Roman"/>
                <a:cs typeface="Times New Roman"/>
                <a:sym typeface="Times New Roman"/>
              </a:rPr>
            </a:br>
            <a:endParaRPr sz="2100">
              <a:solidFill>
                <a:schemeClr val="dk1"/>
              </a:solidFill>
              <a:latin typeface="Times New Roman"/>
              <a:ea typeface="Times New Roman"/>
              <a:cs typeface="Times New Roman"/>
              <a:sym typeface="Times New Roman"/>
            </a:endParaRPr>
          </a:p>
          <a:p>
            <a:pPr indent="-361950" lvl="0" marL="457200" rtl="0" algn="l">
              <a:spcBef>
                <a:spcPts val="0"/>
              </a:spcBef>
              <a:spcAft>
                <a:spcPts val="0"/>
              </a:spcAft>
              <a:buClr>
                <a:schemeClr val="dk1"/>
              </a:buClr>
              <a:buSzPts val="2100"/>
              <a:buFont typeface="Times New Roman"/>
              <a:buChar char="-"/>
            </a:pPr>
            <a:r>
              <a:rPr lang="en" sz="2100">
                <a:solidFill>
                  <a:schemeClr val="dk1"/>
                </a:solidFill>
                <a:latin typeface="Times New Roman"/>
                <a:ea typeface="Times New Roman"/>
                <a:cs typeface="Times New Roman"/>
                <a:sym typeface="Times New Roman"/>
              </a:rPr>
              <a:t>Documented capture filter used (e.g. “only monitor relevant lab subnet and necessary ports”).</a:t>
            </a:r>
            <a:endParaRPr sz="2100"/>
          </a:p>
        </p:txBody>
      </p:sp>
      <p:pic>
        <p:nvPicPr>
          <p:cNvPr id="256" name="Google Shape;256;p34" title="hunt-initial-logs.png"/>
          <p:cNvPicPr preferRelativeResize="0"/>
          <p:nvPr/>
        </p:nvPicPr>
        <p:blipFill>
          <a:blip r:embed="rId3">
            <a:alphaModFix/>
          </a:blip>
          <a:stretch>
            <a:fillRect/>
          </a:stretch>
        </p:blipFill>
        <p:spPr>
          <a:xfrm>
            <a:off x="111497" y="2715467"/>
            <a:ext cx="4353204" cy="19592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M2 – Suricata rule pack + Zeek validation</a:t>
            </a:r>
            <a:endParaRPr>
              <a:latin typeface="Times New Roman"/>
              <a:ea typeface="Times New Roman"/>
              <a:cs typeface="Times New Roman"/>
              <a:sym typeface="Times New Roman"/>
            </a:endParaRPr>
          </a:p>
        </p:txBody>
      </p:sp>
      <p:sp>
        <p:nvSpPr>
          <p:cNvPr id="262" name="Google Shape;262;p35"/>
          <p:cNvSpPr txBox="1"/>
          <p:nvPr>
            <p:ph idx="1" type="body"/>
          </p:nvPr>
        </p:nvSpPr>
        <p:spPr>
          <a:xfrm>
            <a:off x="311700" y="1225225"/>
            <a:ext cx="6573000" cy="33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Wrote a small custom rule pack for three attacks:</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23850" lvl="0" marL="457200" rtl="0" algn="l">
              <a:spcBef>
                <a:spcPts val="1200"/>
              </a:spcBef>
              <a:spcAft>
                <a:spcPts val="0"/>
              </a:spcAft>
              <a:buSzPts val="1500"/>
              <a:buFont typeface="Times New Roman"/>
              <a:buChar char="●"/>
            </a:pPr>
            <a:r>
              <a:rPr lang="en" sz="1800">
                <a:latin typeface="Times New Roman"/>
                <a:ea typeface="Times New Roman"/>
                <a:cs typeface="Times New Roman"/>
                <a:sym typeface="Times New Roman"/>
              </a:rPr>
              <a:t>Port scanning</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 sz="1800">
                <a:latin typeface="Times New Roman"/>
                <a:ea typeface="Times New Roman"/>
                <a:cs typeface="Times New Roman"/>
                <a:sym typeface="Times New Roman"/>
              </a:rPr>
              <a:t>HTTP attack pattern</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323850" lvl="0" marL="457200" rtl="0" algn="l">
              <a:spcBef>
                <a:spcPts val="0"/>
              </a:spcBef>
              <a:spcAft>
                <a:spcPts val="0"/>
              </a:spcAft>
              <a:buSzPts val="1500"/>
              <a:buFont typeface="Times New Roman"/>
              <a:buChar char="●"/>
            </a:pPr>
            <a:r>
              <a:rPr lang="en" sz="1800">
                <a:latin typeface="Times New Roman"/>
                <a:ea typeface="Times New Roman"/>
                <a:cs typeface="Times New Roman"/>
                <a:sym typeface="Times New Roman"/>
              </a:rPr>
              <a:t>SSH brute-force</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1200"/>
              </a:spcBef>
              <a:spcAft>
                <a:spcPts val="0"/>
              </a:spcAft>
              <a:buNone/>
            </a:pPr>
            <a:r>
              <a:rPr lang="en" sz="1800">
                <a:latin typeface="Times New Roman"/>
                <a:ea typeface="Times New Roman"/>
                <a:cs typeface="Times New Roman"/>
                <a:sym typeface="Times New Roman"/>
              </a:rPr>
              <a:t>Enabled and tested them in Security Onion.</a:t>
            </a:r>
            <a:endParaRPr sz="18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M2 - </a:t>
            </a:r>
            <a:r>
              <a:rPr lang="en">
                <a:latin typeface="Times New Roman"/>
                <a:ea typeface="Times New Roman"/>
                <a:cs typeface="Times New Roman"/>
                <a:sym typeface="Times New Roman"/>
              </a:rPr>
              <a:t>Port scan detection (Suricata + Zeek)</a:t>
            </a:r>
            <a:endParaRPr>
              <a:latin typeface="Times New Roman"/>
              <a:ea typeface="Times New Roman"/>
              <a:cs typeface="Times New Roman"/>
              <a:sym typeface="Times New Roman"/>
            </a:endParaRPr>
          </a:p>
        </p:txBody>
      </p:sp>
      <p:pic>
        <p:nvPicPr>
          <p:cNvPr id="268" name="Google Shape;268;p36" title="M2_port_scan.png"/>
          <p:cNvPicPr preferRelativeResize="0"/>
          <p:nvPr/>
        </p:nvPicPr>
        <p:blipFill>
          <a:blip r:embed="rId3">
            <a:alphaModFix/>
          </a:blip>
          <a:stretch>
            <a:fillRect/>
          </a:stretch>
        </p:blipFill>
        <p:spPr>
          <a:xfrm>
            <a:off x="1030950" y="1147225"/>
            <a:ext cx="7082101" cy="35687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M2 - </a:t>
            </a:r>
            <a:r>
              <a:rPr lang="en">
                <a:latin typeface="Times New Roman"/>
                <a:ea typeface="Times New Roman"/>
                <a:cs typeface="Times New Roman"/>
                <a:sym typeface="Times New Roman"/>
              </a:rPr>
              <a:t>HTTP attack detection</a:t>
            </a:r>
            <a:endParaRPr>
              <a:latin typeface="Times New Roman"/>
              <a:ea typeface="Times New Roman"/>
              <a:cs typeface="Times New Roman"/>
              <a:sym typeface="Times New Roman"/>
            </a:endParaRPr>
          </a:p>
        </p:txBody>
      </p:sp>
      <p:pic>
        <p:nvPicPr>
          <p:cNvPr id="274" name="Google Shape;274;p37" title="HTTP_Attack.png"/>
          <p:cNvPicPr preferRelativeResize="0"/>
          <p:nvPr/>
        </p:nvPicPr>
        <p:blipFill>
          <a:blip r:embed="rId3">
            <a:alphaModFix/>
          </a:blip>
          <a:stretch>
            <a:fillRect/>
          </a:stretch>
        </p:blipFill>
        <p:spPr>
          <a:xfrm>
            <a:off x="924400" y="1147226"/>
            <a:ext cx="7295202" cy="3676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311700" y="2384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M2 - </a:t>
            </a:r>
            <a:r>
              <a:rPr lang="en">
                <a:latin typeface="Times New Roman"/>
                <a:ea typeface="Times New Roman"/>
                <a:cs typeface="Times New Roman"/>
                <a:sym typeface="Times New Roman"/>
              </a:rPr>
              <a:t>SSH brute-force detection</a:t>
            </a:r>
            <a:endParaRPr>
              <a:latin typeface="Times New Roman"/>
              <a:ea typeface="Times New Roman"/>
              <a:cs typeface="Times New Roman"/>
              <a:sym typeface="Times New Roman"/>
            </a:endParaRPr>
          </a:p>
        </p:txBody>
      </p:sp>
      <p:pic>
        <p:nvPicPr>
          <p:cNvPr id="280" name="Google Shape;280;p38" title="ssh_brutescan.png"/>
          <p:cNvPicPr preferRelativeResize="0"/>
          <p:nvPr/>
        </p:nvPicPr>
        <p:blipFill>
          <a:blip r:embed="rId3">
            <a:alphaModFix/>
          </a:blip>
          <a:stretch>
            <a:fillRect/>
          </a:stretch>
        </p:blipFill>
        <p:spPr>
          <a:xfrm>
            <a:off x="1118811" y="1326350"/>
            <a:ext cx="6906376" cy="34378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3880">
                <a:solidFill>
                  <a:schemeClr val="dk1"/>
                </a:solidFill>
                <a:latin typeface="Times New Roman"/>
                <a:ea typeface="Times New Roman"/>
                <a:cs typeface="Times New Roman"/>
                <a:sym typeface="Times New Roman"/>
              </a:rPr>
              <a:t>Milestone 3 – Hunt runbook, tuning, metrics</a:t>
            </a:r>
            <a:endParaRPr sz="3880">
              <a:solidFill>
                <a:schemeClr val="dk1"/>
              </a:solidFill>
              <a:latin typeface="Times New Roman"/>
              <a:ea typeface="Times New Roman"/>
              <a:cs typeface="Times New Roman"/>
              <a:sym typeface="Times New Roman"/>
            </a:endParaRPr>
          </a:p>
        </p:txBody>
      </p:sp>
      <p:sp>
        <p:nvSpPr>
          <p:cNvPr id="286" name="Google Shape;286;p3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61950" lvl="0" marL="457200" marR="38100" rtl="0" algn="l">
              <a:lnSpc>
                <a:spcPct val="128571"/>
              </a:lnSpc>
              <a:spcBef>
                <a:spcPts val="0"/>
              </a:spcBef>
              <a:spcAft>
                <a:spcPts val="0"/>
              </a:spcAft>
              <a:buClr>
                <a:srgbClr val="1F1F1F"/>
              </a:buClr>
              <a:buSzPts val="2100"/>
              <a:buFont typeface="Times New Roman"/>
              <a:buChar char="●"/>
            </a:pPr>
            <a:r>
              <a:rPr lang="en" sz="2100">
                <a:solidFill>
                  <a:srgbClr val="1F1F1F"/>
                </a:solidFill>
                <a:latin typeface="Times New Roman"/>
                <a:ea typeface="Times New Roman"/>
                <a:cs typeface="Times New Roman"/>
                <a:sym typeface="Times New Roman"/>
              </a:rPr>
              <a:t>Create a Hunt runbook</a:t>
            </a:r>
            <a:endParaRPr sz="2100">
              <a:solidFill>
                <a:srgbClr val="1F1F1F"/>
              </a:solidFill>
              <a:latin typeface="Times New Roman"/>
              <a:ea typeface="Times New Roman"/>
              <a:cs typeface="Times New Roman"/>
              <a:sym typeface="Times New Roman"/>
            </a:endParaRPr>
          </a:p>
          <a:p>
            <a:pPr indent="-361950" lvl="0" marL="457200" marR="38100" rtl="0" algn="l">
              <a:lnSpc>
                <a:spcPct val="128571"/>
              </a:lnSpc>
              <a:spcBef>
                <a:spcPts val="0"/>
              </a:spcBef>
              <a:spcAft>
                <a:spcPts val="0"/>
              </a:spcAft>
              <a:buClr>
                <a:srgbClr val="1F1F1F"/>
              </a:buClr>
              <a:buSzPts val="2100"/>
              <a:buFont typeface="Times New Roman"/>
              <a:buChar char="●"/>
            </a:pPr>
            <a:r>
              <a:rPr lang="en" sz="2100">
                <a:solidFill>
                  <a:srgbClr val="1F1F1F"/>
                </a:solidFill>
                <a:latin typeface="Times New Roman"/>
                <a:ea typeface="Times New Roman"/>
                <a:cs typeface="Times New Roman"/>
                <a:sym typeface="Times New Roman"/>
              </a:rPr>
              <a:t>Test and tune it</a:t>
            </a:r>
            <a:endParaRPr sz="2100">
              <a:solidFill>
                <a:srgbClr val="1F1F1F"/>
              </a:solidFill>
              <a:latin typeface="Times New Roman"/>
              <a:ea typeface="Times New Roman"/>
              <a:cs typeface="Times New Roman"/>
              <a:sym typeface="Times New Roman"/>
            </a:endParaRPr>
          </a:p>
          <a:p>
            <a:pPr indent="-361950" lvl="0" marL="457200" marR="38100" rtl="0" algn="l">
              <a:lnSpc>
                <a:spcPct val="128571"/>
              </a:lnSpc>
              <a:spcBef>
                <a:spcPts val="0"/>
              </a:spcBef>
              <a:spcAft>
                <a:spcPts val="0"/>
              </a:spcAft>
              <a:buClr>
                <a:srgbClr val="1F1F1F"/>
              </a:buClr>
              <a:buSzPts val="2100"/>
              <a:buFont typeface="Times New Roman"/>
              <a:buChar char="●"/>
            </a:pPr>
            <a:r>
              <a:rPr lang="en" sz="2100">
                <a:solidFill>
                  <a:srgbClr val="1F1F1F"/>
                </a:solidFill>
                <a:latin typeface="Times New Roman"/>
                <a:ea typeface="Times New Roman"/>
                <a:cs typeface="Times New Roman"/>
                <a:sym typeface="Times New Roman"/>
              </a:rPr>
              <a:t>Gather metrics</a:t>
            </a:r>
            <a:endParaRPr sz="2100">
              <a:solidFill>
                <a:srgbClr val="1F1F1F"/>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0"/>
          <p:cNvSpPr/>
          <p:nvPr/>
        </p:nvSpPr>
        <p:spPr>
          <a:xfrm>
            <a:off x="14500" y="14500"/>
            <a:ext cx="9129600" cy="113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92" name="Google Shape;292;p40"/>
          <p:cNvSpPr txBox="1"/>
          <p:nvPr>
            <p:ph type="title"/>
          </p:nvPr>
        </p:nvSpPr>
        <p:spPr>
          <a:xfrm>
            <a:off x="311700" y="207250"/>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M3 – Hunt runbook: from alert → decision</a:t>
            </a:r>
            <a:endParaRPr>
              <a:latin typeface="Times New Roman"/>
              <a:ea typeface="Times New Roman"/>
              <a:cs typeface="Times New Roman"/>
              <a:sym typeface="Times New Roman"/>
            </a:endParaRPr>
          </a:p>
        </p:txBody>
      </p:sp>
      <p:sp>
        <p:nvSpPr>
          <p:cNvPr id="293" name="Google Shape;293;p40"/>
          <p:cNvSpPr txBox="1"/>
          <p:nvPr>
            <p:ph idx="1" type="body"/>
          </p:nvPr>
        </p:nvSpPr>
        <p:spPr>
          <a:xfrm>
            <a:off x="686850" y="1147225"/>
            <a:ext cx="7760100" cy="363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latin typeface="Times New Roman"/>
                <a:ea typeface="Times New Roman"/>
                <a:cs typeface="Times New Roman"/>
                <a:sym typeface="Times New Roman"/>
              </a:rPr>
              <a:t>Start with a </a:t>
            </a:r>
            <a:r>
              <a:rPr b="1" lang="en" sz="1800">
                <a:latin typeface="Times New Roman"/>
                <a:ea typeface="Times New Roman"/>
                <a:cs typeface="Times New Roman"/>
                <a:sym typeface="Times New Roman"/>
              </a:rPr>
              <a:t>hypothesis or alert</a:t>
            </a:r>
            <a:r>
              <a:rPr lang="en" sz="1800">
                <a:latin typeface="Times New Roman"/>
                <a:ea typeface="Times New Roman"/>
                <a:cs typeface="Times New Roman"/>
                <a:sym typeface="Times New Roman"/>
              </a:rPr>
              <a:t> (e.g., “suspicious DNS,” “port scan”).</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800">
                <a:latin typeface="Times New Roman"/>
                <a:ea typeface="Times New Roman"/>
                <a:cs typeface="Times New Roman"/>
                <a:sym typeface="Times New Roman"/>
              </a:rPr>
              <a:t>Triage in Security Onion:</a:t>
            </a:r>
            <a:r>
              <a:rPr lang="en" sz="1800">
                <a:latin typeface="Times New Roman"/>
                <a:ea typeface="Times New Roman"/>
                <a:cs typeface="Times New Roman"/>
                <a:sym typeface="Times New Roman"/>
              </a:rPr>
              <a:t> look at alert details, source/dest, rule message.</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800">
                <a:latin typeface="Times New Roman"/>
                <a:ea typeface="Times New Roman"/>
                <a:cs typeface="Times New Roman"/>
                <a:sym typeface="Times New Roman"/>
              </a:rPr>
              <a:t>Pivot in Zeek logs:</a:t>
            </a:r>
            <a:r>
              <a:rPr lang="en" sz="1800">
                <a:latin typeface="Times New Roman"/>
                <a:ea typeface="Times New Roman"/>
                <a:cs typeface="Times New Roman"/>
                <a:sym typeface="Times New Roman"/>
              </a:rPr>
              <a:t> dns.log → conn.log → http.log, etc.</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1200"/>
              </a:spcBef>
              <a:spcAft>
                <a:spcPts val="0"/>
              </a:spcAft>
              <a:buClr>
                <a:schemeClr val="dk1"/>
              </a:buClr>
              <a:buSzPts val="1100"/>
              <a:buFont typeface="Arial"/>
              <a:buNone/>
            </a:pPr>
            <a:r>
              <a:rPr b="1" lang="en" sz="1800">
                <a:latin typeface="Times New Roman"/>
                <a:ea typeface="Times New Roman"/>
                <a:cs typeface="Times New Roman"/>
                <a:sym typeface="Times New Roman"/>
              </a:rPr>
              <a:t>Enrichment:</a:t>
            </a:r>
            <a:r>
              <a:rPr lang="en" sz="1800">
                <a:latin typeface="Times New Roman"/>
                <a:ea typeface="Times New Roman"/>
                <a:cs typeface="Times New Roman"/>
                <a:sym typeface="Times New Roman"/>
              </a:rPr>
              <a:t> hostnames, GeoIP/IP reputation (even if just discussed, mention it).</a:t>
            </a:r>
            <a:br>
              <a:rPr lang="en"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1200"/>
              </a:spcBef>
              <a:spcAft>
                <a:spcPts val="1200"/>
              </a:spcAft>
              <a:buNone/>
            </a:pPr>
            <a:r>
              <a:rPr b="1" lang="en" sz="1800">
                <a:latin typeface="Times New Roman"/>
                <a:ea typeface="Times New Roman"/>
                <a:cs typeface="Times New Roman"/>
                <a:sym typeface="Times New Roman"/>
              </a:rPr>
              <a:t>Decision &amp; documentation:</a:t>
            </a:r>
            <a:r>
              <a:rPr lang="en" sz="1800">
                <a:latin typeface="Times New Roman"/>
                <a:ea typeface="Times New Roman"/>
                <a:cs typeface="Times New Roman"/>
                <a:sym typeface="Times New Roman"/>
              </a:rPr>
              <a:t> benign vs malicious, note IOCs, note next actions.</a:t>
            </a:r>
            <a:endParaRPr sz="2100">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pic>
        <p:nvPicPr>
          <p:cNvPr id="298" name="Google Shape;298;p41" title="hunt-initial-logs.png"/>
          <p:cNvPicPr preferRelativeResize="0"/>
          <p:nvPr/>
        </p:nvPicPr>
        <p:blipFill>
          <a:blip r:embed="rId3">
            <a:alphaModFix/>
          </a:blip>
          <a:stretch>
            <a:fillRect/>
          </a:stretch>
        </p:blipFill>
        <p:spPr>
          <a:xfrm>
            <a:off x="115738" y="517962"/>
            <a:ext cx="8912524" cy="4107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2"/>
          <p:cNvSpPr txBox="1"/>
          <p:nvPr>
            <p:ph type="title"/>
          </p:nvPr>
        </p:nvSpPr>
        <p:spPr>
          <a:xfrm>
            <a:off x="345200" y="724200"/>
            <a:ext cx="3837000" cy="20358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M3 – Tuning noisy rules + metrics</a:t>
            </a:r>
            <a:endParaRPr>
              <a:solidFill>
                <a:schemeClr val="dk1"/>
              </a:solidFill>
              <a:latin typeface="Times New Roman"/>
              <a:ea typeface="Times New Roman"/>
              <a:cs typeface="Times New Roman"/>
              <a:sym typeface="Times New Roman"/>
            </a:endParaRPr>
          </a:p>
        </p:txBody>
      </p:sp>
      <p:sp>
        <p:nvSpPr>
          <p:cNvPr id="304" name="Google Shape;304;p42"/>
          <p:cNvSpPr txBox="1"/>
          <p:nvPr/>
        </p:nvSpPr>
        <p:spPr>
          <a:xfrm>
            <a:off x="2786850" y="1913175"/>
            <a:ext cx="357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05" name="Google Shape;305;p42"/>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425450" lvl="0" marL="457200" marR="38100" rtl="0" algn="l">
              <a:lnSpc>
                <a:spcPct val="128571"/>
              </a:lnSpc>
              <a:spcBef>
                <a:spcPts val="0"/>
              </a:spcBef>
              <a:spcAft>
                <a:spcPts val="0"/>
              </a:spcAft>
              <a:buClr>
                <a:srgbClr val="1F1F1F"/>
              </a:buClr>
              <a:buSzPts val="3100"/>
              <a:buFont typeface="Times New Roman"/>
              <a:buChar char="●"/>
            </a:pPr>
            <a:r>
              <a:rPr lang="en" sz="3100">
                <a:solidFill>
                  <a:srgbClr val="1F1F1F"/>
                </a:solidFill>
                <a:latin typeface="Times New Roman"/>
                <a:ea typeface="Times New Roman"/>
                <a:cs typeface="Times New Roman"/>
                <a:sym typeface="Times New Roman"/>
              </a:rPr>
              <a:t>Suppressions</a:t>
            </a:r>
            <a:endParaRPr sz="3100">
              <a:solidFill>
                <a:srgbClr val="1F1F1F"/>
              </a:solidFill>
              <a:latin typeface="Times New Roman"/>
              <a:ea typeface="Times New Roman"/>
              <a:cs typeface="Times New Roman"/>
              <a:sym typeface="Times New Roman"/>
            </a:endParaRPr>
          </a:p>
          <a:p>
            <a:pPr indent="-425450" lvl="0" marL="457200" marR="38100" rtl="0" algn="l">
              <a:lnSpc>
                <a:spcPct val="128571"/>
              </a:lnSpc>
              <a:spcBef>
                <a:spcPts val="0"/>
              </a:spcBef>
              <a:spcAft>
                <a:spcPts val="0"/>
              </a:spcAft>
              <a:buClr>
                <a:srgbClr val="1F1F1F"/>
              </a:buClr>
              <a:buSzPts val="3100"/>
              <a:buFont typeface="Times New Roman"/>
              <a:buChar char="●"/>
            </a:pPr>
            <a:r>
              <a:rPr lang="en" sz="3100">
                <a:solidFill>
                  <a:srgbClr val="1F1F1F"/>
                </a:solidFill>
                <a:latin typeface="Times New Roman"/>
                <a:ea typeface="Times New Roman"/>
                <a:cs typeface="Times New Roman"/>
                <a:sym typeface="Times New Roman"/>
              </a:rPr>
              <a:t>Thresholds</a:t>
            </a:r>
            <a:endParaRPr sz="3100">
              <a:solidFill>
                <a:srgbClr val="1F1F1F"/>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1200"/>
              </a:spcAft>
              <a:buNone/>
            </a:pPr>
            <a:r>
              <a:t/>
            </a:r>
            <a:endParaRPr sz="3100">
              <a:solidFill>
                <a:srgbClr val="1F1F1F"/>
              </a:solidFill>
              <a:highlight>
                <a:srgbClr val="F8F9FA"/>
              </a:highlight>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3"/>
          <p:cNvSpPr txBox="1"/>
          <p:nvPr>
            <p:ph type="title"/>
          </p:nvPr>
        </p:nvSpPr>
        <p:spPr>
          <a:xfrm>
            <a:off x="265500" y="929275"/>
            <a:ext cx="4045200" cy="17862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Milestone 4 – </a:t>
            </a:r>
            <a:r>
              <a:rPr lang="en">
                <a:solidFill>
                  <a:schemeClr val="dk1"/>
                </a:solidFill>
                <a:latin typeface="Times New Roman"/>
                <a:ea typeface="Times New Roman"/>
                <a:cs typeface="Times New Roman"/>
                <a:sym typeface="Times New Roman"/>
              </a:rPr>
              <a:t>Malicious PCAP demo + takeaways</a:t>
            </a:r>
            <a:endParaRPr>
              <a:solidFill>
                <a:schemeClr val="dk1"/>
              </a:solidFill>
              <a:latin typeface="Times New Roman"/>
              <a:ea typeface="Times New Roman"/>
              <a:cs typeface="Times New Roman"/>
              <a:sym typeface="Times New Roman"/>
            </a:endParaRPr>
          </a:p>
        </p:txBody>
      </p:sp>
      <p:sp>
        <p:nvSpPr>
          <p:cNvPr id="311" name="Google Shape;311;p43"/>
          <p:cNvSpPr txBox="1"/>
          <p:nvPr/>
        </p:nvSpPr>
        <p:spPr>
          <a:xfrm>
            <a:off x="2764050" y="1764950"/>
            <a:ext cx="4591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312" name="Google Shape;312;p43"/>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p>
            <a:pPr indent="-393700" lvl="0" marL="457200" marR="38100" rtl="0" algn="l">
              <a:lnSpc>
                <a:spcPct val="128571"/>
              </a:lnSpc>
              <a:spcBef>
                <a:spcPts val="0"/>
              </a:spcBef>
              <a:spcAft>
                <a:spcPts val="0"/>
              </a:spcAft>
              <a:buClr>
                <a:srgbClr val="1F1F1F"/>
              </a:buClr>
              <a:buSzPts val="2600"/>
              <a:buFont typeface="Times New Roman"/>
              <a:buChar char="●"/>
            </a:pPr>
            <a:r>
              <a:rPr lang="en" sz="2600">
                <a:solidFill>
                  <a:srgbClr val="1F1F1F"/>
                </a:solidFill>
                <a:latin typeface="Times New Roman"/>
                <a:ea typeface="Times New Roman"/>
                <a:cs typeface="Times New Roman"/>
                <a:sym typeface="Times New Roman"/>
              </a:rPr>
              <a:t>Malicious PCAP</a:t>
            </a:r>
            <a:endParaRPr sz="2600">
              <a:solidFill>
                <a:srgbClr val="1F1F1F"/>
              </a:solidFill>
              <a:latin typeface="Times New Roman"/>
              <a:ea typeface="Times New Roman"/>
              <a:cs typeface="Times New Roman"/>
              <a:sym typeface="Times New Roman"/>
            </a:endParaRPr>
          </a:p>
          <a:p>
            <a:pPr indent="-393700" lvl="0" marL="457200" marR="38100" rtl="0" algn="l">
              <a:lnSpc>
                <a:spcPct val="128571"/>
              </a:lnSpc>
              <a:spcBef>
                <a:spcPts val="0"/>
              </a:spcBef>
              <a:spcAft>
                <a:spcPts val="0"/>
              </a:spcAft>
              <a:buClr>
                <a:srgbClr val="1F1F1F"/>
              </a:buClr>
              <a:buSzPts val="2600"/>
              <a:buFont typeface="Times New Roman"/>
              <a:buChar char="●"/>
            </a:pPr>
            <a:r>
              <a:rPr lang="en" sz="2600">
                <a:solidFill>
                  <a:srgbClr val="1F1F1F"/>
                </a:solidFill>
                <a:latin typeface="Times New Roman"/>
                <a:ea typeface="Times New Roman"/>
                <a:cs typeface="Times New Roman"/>
                <a:sym typeface="Times New Roman"/>
              </a:rPr>
              <a:t>IOCs</a:t>
            </a:r>
            <a:endParaRPr sz="2600">
              <a:solidFill>
                <a:srgbClr val="1F1F1F"/>
              </a:solidFill>
              <a:latin typeface="Times New Roman"/>
              <a:ea typeface="Times New Roman"/>
              <a:cs typeface="Times New Roman"/>
              <a:sym typeface="Times New Roman"/>
            </a:endParaRPr>
          </a:p>
          <a:p>
            <a:pPr indent="-393700" lvl="0" marL="457200" marR="38100" rtl="0" algn="l">
              <a:lnSpc>
                <a:spcPct val="128571"/>
              </a:lnSpc>
              <a:spcBef>
                <a:spcPts val="0"/>
              </a:spcBef>
              <a:spcAft>
                <a:spcPts val="0"/>
              </a:spcAft>
              <a:buClr>
                <a:srgbClr val="1F1F1F"/>
              </a:buClr>
              <a:buSzPts val="2600"/>
              <a:buFont typeface="Times New Roman"/>
              <a:buChar char="●"/>
            </a:pPr>
            <a:r>
              <a:rPr lang="en" sz="2600">
                <a:solidFill>
                  <a:srgbClr val="1F1F1F"/>
                </a:solidFill>
                <a:latin typeface="Times New Roman"/>
                <a:ea typeface="Times New Roman"/>
                <a:cs typeface="Times New Roman"/>
                <a:sym typeface="Times New Roman"/>
              </a:rPr>
              <a:t>Takeaway</a:t>
            </a:r>
            <a:endParaRPr sz="2600">
              <a:solidFill>
                <a:srgbClr val="1F1F1F"/>
              </a:solidFill>
              <a:latin typeface="Times New Roman"/>
              <a:ea typeface="Times New Roman"/>
              <a:cs typeface="Times New Roman"/>
              <a:sym typeface="Times New Roman"/>
            </a:endParaRPr>
          </a:p>
          <a:p>
            <a:pPr indent="0" lvl="0" marL="0" rtl="0" algn="l">
              <a:spcBef>
                <a:spcPts val="0"/>
              </a:spcBef>
              <a:spcAft>
                <a:spcPts val="1200"/>
              </a:spcAft>
              <a:buNone/>
            </a:pPr>
            <a:r>
              <a:t/>
            </a:r>
            <a:endParaRPr sz="2600">
              <a:solidFill>
                <a:srgbClr val="1F1F1F"/>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4"/>
          <p:cNvSpPr txBox="1"/>
          <p:nvPr>
            <p:ph type="title"/>
          </p:nvPr>
        </p:nvSpPr>
        <p:spPr>
          <a:xfrm>
            <a:off x="231350" y="255550"/>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M4 – Malicious PCAP analysis and IOCs</a:t>
            </a:r>
            <a:endParaRPr>
              <a:latin typeface="Times New Roman"/>
              <a:ea typeface="Times New Roman"/>
              <a:cs typeface="Times New Roman"/>
              <a:sym typeface="Times New Roman"/>
            </a:endParaRPr>
          </a:p>
        </p:txBody>
      </p:sp>
      <p:pic>
        <p:nvPicPr>
          <p:cNvPr id="318" name="Google Shape;318;p44" title="Alerts from Malicious PCAP.png"/>
          <p:cNvPicPr preferRelativeResize="0"/>
          <p:nvPr/>
        </p:nvPicPr>
        <p:blipFill>
          <a:blip r:embed="rId3">
            <a:alphaModFix/>
          </a:blip>
          <a:stretch>
            <a:fillRect/>
          </a:stretch>
        </p:blipFill>
        <p:spPr>
          <a:xfrm>
            <a:off x="420350" y="1086850"/>
            <a:ext cx="7732102" cy="38130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5"/>
          <p:cNvSpPr/>
          <p:nvPr/>
        </p:nvSpPr>
        <p:spPr>
          <a:xfrm>
            <a:off x="14500" y="14500"/>
            <a:ext cx="9129600" cy="1132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324" name="Google Shape;324;p45"/>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Key Takeaways</a:t>
            </a:r>
            <a:endParaRPr>
              <a:latin typeface="Times New Roman"/>
              <a:ea typeface="Times New Roman"/>
              <a:cs typeface="Times New Roman"/>
              <a:sym typeface="Times New Roman"/>
            </a:endParaRPr>
          </a:p>
        </p:txBody>
      </p:sp>
      <p:sp>
        <p:nvSpPr>
          <p:cNvPr id="325" name="Google Shape;325;p45"/>
          <p:cNvSpPr txBox="1"/>
          <p:nvPr/>
        </p:nvSpPr>
        <p:spPr>
          <a:xfrm>
            <a:off x="553875" y="1245775"/>
            <a:ext cx="8057400" cy="2170200"/>
          </a:xfrm>
          <a:prstGeom prst="rect">
            <a:avLst/>
          </a:prstGeom>
          <a:noFill/>
          <a:ln>
            <a:noFill/>
          </a:ln>
        </p:spPr>
        <p:txBody>
          <a:bodyPr anchorCtr="0" anchor="t" bIns="91425" lIns="91425" spcFirstLastPara="1" rIns="91425" wrap="square" tIns="91425">
            <a:spAutoFit/>
          </a:bodyPr>
          <a:lstStyle/>
          <a:p>
            <a:pPr indent="-361950" lvl="0" marL="457200" marR="38100" rtl="0" algn="l">
              <a:lnSpc>
                <a:spcPct val="128571"/>
              </a:lnSpc>
              <a:spcBef>
                <a:spcPts val="0"/>
              </a:spcBef>
              <a:spcAft>
                <a:spcPts val="0"/>
              </a:spcAft>
              <a:buClr>
                <a:srgbClr val="1F1F1F"/>
              </a:buClr>
              <a:buSzPts val="2100"/>
              <a:buFont typeface="Times New Roman"/>
              <a:buChar char="●"/>
            </a:pPr>
            <a:r>
              <a:rPr lang="en" sz="2100">
                <a:solidFill>
                  <a:srgbClr val="1F1F1F"/>
                </a:solidFill>
                <a:highlight>
                  <a:srgbClr val="F8F9FA"/>
                </a:highlight>
                <a:latin typeface="Times New Roman"/>
                <a:ea typeface="Times New Roman"/>
                <a:cs typeface="Times New Roman"/>
                <a:sym typeface="Times New Roman"/>
              </a:rPr>
              <a:t>Raw packets → baseline → rules → alerts → hunts → tuning</a:t>
            </a:r>
            <a:endParaRPr sz="2100">
              <a:solidFill>
                <a:srgbClr val="1F1F1F"/>
              </a:solidFill>
              <a:highlight>
                <a:srgbClr val="F8F9FA"/>
              </a:highlight>
              <a:latin typeface="Times New Roman"/>
              <a:ea typeface="Times New Roman"/>
              <a:cs typeface="Times New Roman"/>
              <a:sym typeface="Times New Roman"/>
            </a:endParaRPr>
          </a:p>
          <a:p>
            <a:pPr indent="-361950" lvl="0" marL="457200" marR="38100" rtl="0" algn="l">
              <a:lnSpc>
                <a:spcPct val="128571"/>
              </a:lnSpc>
              <a:spcBef>
                <a:spcPts val="0"/>
              </a:spcBef>
              <a:spcAft>
                <a:spcPts val="0"/>
              </a:spcAft>
              <a:buClr>
                <a:srgbClr val="1F1F1F"/>
              </a:buClr>
              <a:buSzPts val="2100"/>
              <a:buFont typeface="Times New Roman"/>
              <a:buChar char="●"/>
            </a:pPr>
            <a:r>
              <a:rPr lang="en" sz="2100">
                <a:solidFill>
                  <a:srgbClr val="1F1F1F"/>
                </a:solidFill>
                <a:highlight>
                  <a:srgbClr val="F8F9FA"/>
                </a:highlight>
                <a:latin typeface="Times New Roman"/>
                <a:ea typeface="Times New Roman"/>
                <a:cs typeface="Times New Roman"/>
                <a:sym typeface="Times New Roman"/>
              </a:rPr>
              <a:t>Biggest Technical Challenge:</a:t>
            </a:r>
            <a:endParaRPr sz="2100">
              <a:solidFill>
                <a:srgbClr val="1F1F1F"/>
              </a:solidFill>
              <a:highlight>
                <a:srgbClr val="F8F9FA"/>
              </a:highlight>
              <a:latin typeface="Times New Roman"/>
              <a:ea typeface="Times New Roman"/>
              <a:cs typeface="Times New Roman"/>
              <a:sym typeface="Times New Roman"/>
            </a:endParaRPr>
          </a:p>
          <a:p>
            <a:pPr indent="-361950" lvl="1" marL="914400" marR="38100" rtl="0" algn="l">
              <a:lnSpc>
                <a:spcPct val="128571"/>
              </a:lnSpc>
              <a:spcBef>
                <a:spcPts val="0"/>
              </a:spcBef>
              <a:spcAft>
                <a:spcPts val="0"/>
              </a:spcAft>
              <a:buClr>
                <a:srgbClr val="1F1F1F"/>
              </a:buClr>
              <a:buSzPts val="2100"/>
              <a:buFont typeface="Times New Roman"/>
              <a:buChar char="○"/>
            </a:pPr>
            <a:r>
              <a:rPr lang="en" sz="2100">
                <a:solidFill>
                  <a:srgbClr val="1F1F1F"/>
                </a:solidFill>
                <a:highlight>
                  <a:srgbClr val="F8F9FA"/>
                </a:highlight>
                <a:latin typeface="Times New Roman"/>
                <a:ea typeface="Times New Roman"/>
                <a:cs typeface="Times New Roman"/>
                <a:sym typeface="Times New Roman"/>
              </a:rPr>
              <a:t>Networking/Visibility Issue</a:t>
            </a:r>
            <a:endParaRPr sz="2100">
              <a:solidFill>
                <a:srgbClr val="1F1F1F"/>
              </a:solidFill>
              <a:highlight>
                <a:srgbClr val="F8F9FA"/>
              </a:highlight>
              <a:latin typeface="Times New Roman"/>
              <a:ea typeface="Times New Roman"/>
              <a:cs typeface="Times New Roman"/>
              <a:sym typeface="Times New Roman"/>
            </a:endParaRPr>
          </a:p>
          <a:p>
            <a:pPr indent="-361950" lvl="1" marL="914400" marR="38100" rtl="0" algn="l">
              <a:lnSpc>
                <a:spcPct val="128571"/>
              </a:lnSpc>
              <a:spcBef>
                <a:spcPts val="0"/>
              </a:spcBef>
              <a:spcAft>
                <a:spcPts val="0"/>
              </a:spcAft>
              <a:buClr>
                <a:srgbClr val="1F1F1F"/>
              </a:buClr>
              <a:buSzPts val="2100"/>
              <a:buFont typeface="Times New Roman"/>
              <a:buChar char="○"/>
            </a:pPr>
            <a:r>
              <a:rPr lang="en" sz="2100">
                <a:solidFill>
                  <a:srgbClr val="1F1F1F"/>
                </a:solidFill>
                <a:highlight>
                  <a:srgbClr val="F8F9FA"/>
                </a:highlight>
                <a:latin typeface="Times New Roman"/>
                <a:ea typeface="Times New Roman"/>
                <a:cs typeface="Times New Roman"/>
                <a:sym typeface="Times New Roman"/>
              </a:rPr>
              <a:t>Rule Mismatches</a:t>
            </a:r>
            <a:endParaRPr sz="2100">
              <a:solidFill>
                <a:srgbClr val="1F1F1F"/>
              </a:solidFill>
              <a:highlight>
                <a:srgbClr val="F8F9FA"/>
              </a:highlight>
              <a:latin typeface="Times New Roman"/>
              <a:ea typeface="Times New Roman"/>
              <a:cs typeface="Times New Roman"/>
              <a:sym typeface="Times New Roman"/>
            </a:endParaRPr>
          </a:p>
          <a:p>
            <a:pPr indent="-361950" lvl="1" marL="914400" marR="38100" rtl="0" algn="l">
              <a:lnSpc>
                <a:spcPct val="128571"/>
              </a:lnSpc>
              <a:spcBef>
                <a:spcPts val="0"/>
              </a:spcBef>
              <a:spcAft>
                <a:spcPts val="0"/>
              </a:spcAft>
              <a:buClr>
                <a:srgbClr val="1F1F1F"/>
              </a:buClr>
              <a:buSzPts val="2100"/>
              <a:buFont typeface="Times New Roman"/>
              <a:buChar char="○"/>
            </a:pPr>
            <a:r>
              <a:rPr lang="en" sz="2100">
                <a:solidFill>
                  <a:srgbClr val="1F1F1F"/>
                </a:solidFill>
                <a:highlight>
                  <a:srgbClr val="F8F9FA"/>
                </a:highlight>
                <a:latin typeface="Times New Roman"/>
                <a:ea typeface="Times New Roman"/>
                <a:cs typeface="Times New Roman"/>
                <a:sym typeface="Times New Roman"/>
              </a:rPr>
              <a:t>Noisy Alerts</a:t>
            </a:r>
            <a:endParaRPr sz="2100">
              <a:solidFill>
                <a:srgbClr val="1F1F1F"/>
              </a:solidFill>
              <a:highlight>
                <a:srgbClr val="F8F9FA"/>
              </a:highlight>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6"/>
          <p:cNvSpPr txBox="1"/>
          <p:nvPr>
            <p:ph type="title"/>
          </p:nvPr>
        </p:nvSpPr>
        <p:spPr>
          <a:xfrm>
            <a:off x="311700" y="315925"/>
            <a:ext cx="8520600" cy="83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Times New Roman"/>
                <a:ea typeface="Times New Roman"/>
                <a:cs typeface="Times New Roman"/>
                <a:sym typeface="Times New Roman"/>
              </a:rPr>
              <a:t>GITHUB</a:t>
            </a:r>
            <a:endParaRPr>
              <a:latin typeface="Times New Roman"/>
              <a:ea typeface="Times New Roman"/>
              <a:cs typeface="Times New Roman"/>
              <a:sym typeface="Times New Roman"/>
            </a:endParaRPr>
          </a:p>
        </p:txBody>
      </p:sp>
      <p:sp>
        <p:nvSpPr>
          <p:cNvPr id="331" name="Google Shape;331;p46"/>
          <p:cNvSpPr txBox="1"/>
          <p:nvPr/>
        </p:nvSpPr>
        <p:spPr>
          <a:xfrm>
            <a:off x="823050" y="1992150"/>
            <a:ext cx="7497900" cy="11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Open Sans"/>
                <a:ea typeface="Open Sans"/>
                <a:cs typeface="Open Sans"/>
                <a:sym typeface="Open Sans"/>
                <a:hlinkClick r:id="rId3"/>
              </a:rPr>
              <a:t>https://github.com/mwchavez/IDS_DF_F2025_Project_MC_MT_DP</a:t>
            </a:r>
            <a:endParaRPr sz="1800">
              <a:solidFill>
                <a:schemeClr val="dk1"/>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7"/>
          <p:cNvSpPr txBox="1"/>
          <p:nvPr>
            <p:ph type="title"/>
          </p:nvPr>
        </p:nvSpPr>
        <p:spPr>
          <a:xfrm>
            <a:off x="265500" y="929275"/>
            <a:ext cx="4045200" cy="17862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chemeClr val="dk1"/>
                </a:solidFill>
                <a:latin typeface="Times New Roman"/>
                <a:ea typeface="Times New Roman"/>
                <a:cs typeface="Times New Roman"/>
                <a:sym typeface="Times New Roman"/>
              </a:rPr>
              <a:t>Future Status of the project</a:t>
            </a:r>
            <a:endParaRPr>
              <a:solidFill>
                <a:schemeClr val="dk1"/>
              </a:solidFill>
              <a:latin typeface="Times New Roman"/>
              <a:ea typeface="Times New Roman"/>
              <a:cs typeface="Times New Roman"/>
              <a:sym typeface="Times New Roman"/>
            </a:endParaRPr>
          </a:p>
        </p:txBody>
      </p:sp>
      <p:sp>
        <p:nvSpPr>
          <p:cNvPr id="337" name="Google Shape;337;p47"/>
          <p:cNvSpPr txBox="1"/>
          <p:nvPr/>
        </p:nvSpPr>
        <p:spPr>
          <a:xfrm>
            <a:off x="4735550" y="869100"/>
            <a:ext cx="3837000" cy="2866500"/>
          </a:xfrm>
          <a:prstGeom prst="rect">
            <a:avLst/>
          </a:prstGeom>
          <a:noFill/>
          <a:ln>
            <a:noFill/>
          </a:ln>
        </p:spPr>
        <p:txBody>
          <a:bodyPr anchorCtr="0" anchor="ctr" bIns="91425" lIns="91425" spcFirstLastPara="1" rIns="91425" wrap="square" tIns="91425">
            <a:noAutofit/>
          </a:bodyPr>
          <a:lstStyle/>
          <a:p>
            <a:pPr indent="-387350" lvl="0" marL="457200" marR="38100" rtl="0" algn="l">
              <a:lnSpc>
                <a:spcPct val="128571"/>
              </a:lnSpc>
              <a:spcBef>
                <a:spcPts val="0"/>
              </a:spcBef>
              <a:spcAft>
                <a:spcPts val="0"/>
              </a:spcAft>
              <a:buClr>
                <a:srgbClr val="1F1F1F"/>
              </a:buClr>
              <a:buSzPts val="2500"/>
              <a:buFont typeface="Times New Roman"/>
              <a:buChar char="●"/>
            </a:pPr>
            <a:r>
              <a:rPr lang="en" sz="2500">
                <a:solidFill>
                  <a:srgbClr val="1F1F1F"/>
                </a:solidFill>
                <a:latin typeface="Times New Roman"/>
                <a:ea typeface="Times New Roman"/>
                <a:cs typeface="Times New Roman"/>
                <a:sym typeface="Times New Roman"/>
              </a:rPr>
              <a:t>Expand rule set</a:t>
            </a:r>
            <a:endParaRPr sz="2500">
              <a:solidFill>
                <a:srgbClr val="1F1F1F"/>
              </a:solidFill>
              <a:latin typeface="Times New Roman"/>
              <a:ea typeface="Times New Roman"/>
              <a:cs typeface="Times New Roman"/>
              <a:sym typeface="Times New Roman"/>
            </a:endParaRPr>
          </a:p>
          <a:p>
            <a:pPr indent="-387350" lvl="0" marL="457200" marR="38100" rtl="0" algn="l">
              <a:lnSpc>
                <a:spcPct val="128571"/>
              </a:lnSpc>
              <a:spcBef>
                <a:spcPts val="0"/>
              </a:spcBef>
              <a:spcAft>
                <a:spcPts val="0"/>
              </a:spcAft>
              <a:buClr>
                <a:srgbClr val="1F1F1F"/>
              </a:buClr>
              <a:buSzPts val="2500"/>
              <a:buFont typeface="Times New Roman"/>
              <a:buChar char="●"/>
            </a:pPr>
            <a:r>
              <a:rPr lang="en" sz="2500">
                <a:solidFill>
                  <a:srgbClr val="1F1F1F"/>
                </a:solidFill>
                <a:latin typeface="Times New Roman"/>
                <a:ea typeface="Times New Roman"/>
                <a:cs typeface="Times New Roman"/>
                <a:sym typeface="Times New Roman"/>
              </a:rPr>
              <a:t>Automation (Training)</a:t>
            </a:r>
            <a:endParaRPr sz="2200">
              <a:solidFill>
                <a:schemeClr val="dk1"/>
              </a:solidFill>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8"/>
          <p:cNvSpPr txBox="1"/>
          <p:nvPr>
            <p:ph type="title"/>
          </p:nvPr>
        </p:nvSpPr>
        <p:spPr>
          <a:xfrm>
            <a:off x="311700" y="315925"/>
            <a:ext cx="8520600" cy="8313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latin typeface="Times New Roman"/>
                <a:ea typeface="Times New Roman"/>
                <a:cs typeface="Times New Roman"/>
                <a:sym typeface="Times New Roman"/>
              </a:rPr>
              <a:t>Resources used in gathering </a:t>
            </a:r>
            <a:r>
              <a:rPr lang="en">
                <a:latin typeface="Times New Roman"/>
                <a:ea typeface="Times New Roman"/>
                <a:cs typeface="Times New Roman"/>
                <a:sym typeface="Times New Roman"/>
              </a:rPr>
              <a:t>information</a:t>
            </a:r>
            <a:endParaRPr>
              <a:latin typeface="Times New Roman"/>
              <a:ea typeface="Times New Roman"/>
              <a:cs typeface="Times New Roman"/>
              <a:sym typeface="Times New Roman"/>
            </a:endParaRPr>
          </a:p>
        </p:txBody>
      </p:sp>
      <p:sp>
        <p:nvSpPr>
          <p:cNvPr id="343" name="Google Shape;343;p48"/>
          <p:cNvSpPr txBox="1"/>
          <p:nvPr/>
        </p:nvSpPr>
        <p:spPr>
          <a:xfrm>
            <a:off x="678675" y="1332975"/>
            <a:ext cx="7775700" cy="3151200"/>
          </a:xfrm>
          <a:prstGeom prst="rect">
            <a:avLst/>
          </a:prstGeom>
          <a:noFill/>
          <a:ln>
            <a:noFill/>
          </a:ln>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Clr>
                <a:schemeClr val="accent1"/>
              </a:buClr>
              <a:buSzPts val="1800"/>
              <a:buFont typeface="Open Sans"/>
              <a:buChar char="-"/>
            </a:pPr>
            <a:r>
              <a:rPr lang="en" sz="1800" u="sng">
                <a:solidFill>
                  <a:schemeClr val="accent1"/>
                </a:solidFill>
                <a:latin typeface="Open Sans"/>
                <a:ea typeface="Open Sans"/>
                <a:cs typeface="Open Sans"/>
                <a:sym typeface="Open Sans"/>
                <a:hlinkClick r:id="rId3">
                  <a:extLst>
                    <a:ext uri="{A12FA001-AC4F-418D-AE19-62706E023703}">
                      <ahyp:hlinkClr val="tx"/>
                    </a:ext>
                  </a:extLst>
                </a:hlinkClick>
              </a:rPr>
              <a:t>https://www.malware-traffic-analysis.net/2021/05/14/index.html</a:t>
            </a:r>
            <a:endParaRPr sz="1800">
              <a:solidFill>
                <a:schemeClr val="accent1"/>
              </a:solidFill>
              <a:latin typeface="Open Sans"/>
              <a:ea typeface="Open Sans"/>
              <a:cs typeface="Open Sans"/>
              <a:sym typeface="Open Sans"/>
            </a:endParaRPr>
          </a:p>
          <a:p>
            <a:pPr indent="-342900" lvl="0" marL="457200" rtl="0" algn="l">
              <a:lnSpc>
                <a:spcPct val="200000"/>
              </a:lnSpc>
              <a:spcBef>
                <a:spcPts val="0"/>
              </a:spcBef>
              <a:spcAft>
                <a:spcPts val="0"/>
              </a:spcAft>
              <a:buClr>
                <a:schemeClr val="accent1"/>
              </a:buClr>
              <a:buSzPts val="1800"/>
              <a:buFont typeface="Open Sans"/>
              <a:buChar char="-"/>
            </a:pPr>
            <a:r>
              <a:rPr lang="en" sz="1800" u="sng">
                <a:solidFill>
                  <a:schemeClr val="accent1"/>
                </a:solidFill>
                <a:latin typeface="Open Sans"/>
                <a:ea typeface="Open Sans"/>
                <a:cs typeface="Open Sans"/>
                <a:sym typeface="Open Sans"/>
                <a:hlinkClick r:id="rId4">
                  <a:extLst>
                    <a:ext uri="{A12FA001-AC4F-418D-AE19-62706E023703}">
                      <ahyp:hlinkClr val="tx"/>
                    </a:ext>
                  </a:extLst>
                </a:hlinkClick>
              </a:rPr>
              <a:t>https://github.com/MBCProject/mbc-markdown/blob/main/xample-malware/ursnif.md</a:t>
            </a:r>
            <a:endParaRPr sz="1800">
              <a:solidFill>
                <a:schemeClr val="accent1"/>
              </a:solidFill>
              <a:latin typeface="Open Sans"/>
              <a:ea typeface="Open Sans"/>
              <a:cs typeface="Open Sans"/>
              <a:sym typeface="Open Sans"/>
            </a:endParaRPr>
          </a:p>
          <a:p>
            <a:pPr indent="-342900" lvl="0" marL="457200" rtl="0" algn="l">
              <a:lnSpc>
                <a:spcPct val="200000"/>
              </a:lnSpc>
              <a:spcBef>
                <a:spcPts val="0"/>
              </a:spcBef>
              <a:spcAft>
                <a:spcPts val="0"/>
              </a:spcAft>
              <a:buClr>
                <a:schemeClr val="accent1"/>
              </a:buClr>
              <a:buSzPts val="1800"/>
              <a:buFont typeface="Open Sans"/>
              <a:buChar char="-"/>
            </a:pPr>
            <a:r>
              <a:rPr lang="en" sz="1800" u="sng">
                <a:solidFill>
                  <a:schemeClr val="accent1"/>
                </a:solidFill>
                <a:latin typeface="Open Sans"/>
                <a:ea typeface="Open Sans"/>
                <a:cs typeface="Open Sans"/>
                <a:sym typeface="Open Sans"/>
                <a:hlinkClick r:id="rId5">
                  <a:extLst>
                    <a:ext uri="{A12FA001-AC4F-418D-AE19-62706E023703}">
                      <ahyp:hlinkClr val="tx"/>
                    </a:ext>
                  </a:extLst>
                </a:hlinkClick>
              </a:rPr>
              <a:t>https://www.acronis.com/en/tru/posts/ursnif-the-banking-trojan/</a:t>
            </a:r>
            <a:endParaRPr sz="1800">
              <a:solidFill>
                <a:schemeClr val="accent1"/>
              </a:solidFill>
              <a:latin typeface="Open Sans"/>
              <a:ea typeface="Open Sans"/>
              <a:cs typeface="Open Sans"/>
              <a:sym typeface="Open Sans"/>
            </a:endParaRPr>
          </a:p>
          <a:p>
            <a:pPr indent="-342900" lvl="0" marL="457200" rtl="0" algn="l">
              <a:lnSpc>
                <a:spcPct val="200000"/>
              </a:lnSpc>
              <a:spcBef>
                <a:spcPts val="0"/>
              </a:spcBef>
              <a:spcAft>
                <a:spcPts val="0"/>
              </a:spcAft>
              <a:buClr>
                <a:schemeClr val="accent1"/>
              </a:buClr>
              <a:buSzPts val="1800"/>
              <a:buFont typeface="Open Sans"/>
              <a:buChar char="-"/>
            </a:pPr>
            <a:r>
              <a:rPr lang="en" sz="1800" u="sng">
                <a:solidFill>
                  <a:schemeClr val="accent1"/>
                </a:solidFill>
                <a:latin typeface="Open Sans"/>
                <a:ea typeface="Open Sans"/>
                <a:cs typeface="Open Sans"/>
                <a:sym typeface="Open Sans"/>
                <a:hlinkClick r:id="rId6">
                  <a:extLst>
                    <a:ext uri="{A12FA001-AC4F-418D-AE19-62706E023703}">
                      <ahyp:hlinkClr val="tx"/>
                    </a:ext>
                  </a:extLst>
                </a:hlinkClick>
              </a:rPr>
              <a:t>https://attack.mitre.org/software/S0386/</a:t>
            </a:r>
            <a:endParaRPr sz="1800">
              <a:solidFill>
                <a:schemeClr val="accent1"/>
              </a:solidFill>
              <a:latin typeface="Open Sans"/>
              <a:ea typeface="Open Sans"/>
              <a:cs typeface="Open Sans"/>
              <a:sym typeface="Open Sans"/>
            </a:endParaRPr>
          </a:p>
          <a:p>
            <a:pPr indent="0" lvl="0" marL="457200" rtl="0" algn="l">
              <a:spcBef>
                <a:spcPts val="0"/>
              </a:spcBef>
              <a:spcAft>
                <a:spcPts val="0"/>
              </a:spcAft>
              <a:buNone/>
            </a:pPr>
            <a:r>
              <a:t/>
            </a:r>
            <a:endParaRPr sz="1800">
              <a:solidFill>
                <a:schemeClr val="dk1"/>
              </a:solidFill>
              <a:latin typeface="Open Sans"/>
              <a:ea typeface="Open Sans"/>
              <a:cs typeface="Open Sans"/>
              <a:sym typeface="Open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descr="Make the Thank you slide beautiful and add sonic" id="348" name="Google Shape;348;p49"/>
          <p:cNvPicPr preferRelativeResize="0"/>
          <p:nvPr/>
        </p:nvPicPr>
        <p:blipFill>
          <a:blip r:embed="rId3">
            <a:alphaModFix/>
          </a:blip>
          <a:stretch>
            <a:fillRect/>
          </a:stretch>
        </p:blipFill>
        <p:spPr>
          <a:xfrm>
            <a:off x="0" y="19936"/>
            <a:ext cx="9143545" cy="510338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57BB8A"/>
      </a:accent3>
      <a:accent4>
        <a:srgbClr val="78909C"/>
      </a:accent4>
      <a:accent5>
        <a:srgbClr val="607D8B"/>
      </a:accent5>
      <a:accent6>
        <a:srgbClr val="DCE755"/>
      </a:accent6>
      <a:hlink>
        <a:srgbClr val="607D8B"/>
      </a:hlink>
      <a:folHlink>
        <a:srgbClr val="607D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